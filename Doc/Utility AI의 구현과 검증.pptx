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7" r:id="rId5"/>
    <p:sldId id="264" r:id="rId6"/>
    <p:sldId id="265" r:id="rId7"/>
    <p:sldId id="260" r:id="rId8"/>
    <p:sldId id="261" r:id="rId9"/>
    <p:sldId id="262" r:id="rId10"/>
    <p:sldId id="263" r:id="rId11"/>
    <p:sldId id="278" r:id="rId12"/>
    <p:sldId id="259" r:id="rId13"/>
    <p:sldId id="266" r:id="rId14"/>
    <p:sldId id="267" r:id="rId15"/>
    <p:sldId id="279" r:id="rId16"/>
    <p:sldId id="268" r:id="rId17"/>
    <p:sldId id="269" r:id="rId18"/>
    <p:sldId id="270" r:id="rId19"/>
    <p:sldId id="271" r:id="rId20"/>
    <p:sldId id="273" r:id="rId21"/>
    <p:sldId id="274" r:id="rId22"/>
    <p:sldId id="272" r:id="rId23"/>
    <p:sldId id="275" r:id="rId24"/>
    <p:sldId id="276" r:id="rId25"/>
    <p:sldId id="280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0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DC211-AF25-DA6E-30D2-2544EF50E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8D8367-907F-7B76-99B1-85E488C7F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46D0FC-57C5-692B-2877-4ADFCAF5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6E61-7B8C-4F42-A9E9-943560D43BF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07355C-C862-95A7-0F77-05B01DD5E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2E155D-90A8-DC72-E0BB-E5FC93AD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94D6-F9D8-48AF-AFDF-F8F9A9BD9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75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79ABA-7507-0275-E99B-ED64F8282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EE25AD-FB54-6981-9C44-C22AF0B42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7DFDA3-E2B6-D95F-47C3-A995CC95A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6E61-7B8C-4F42-A9E9-943560D43BF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63E65C-C002-F4C7-FD2B-224320DE2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773E5A-56F6-4F2D-FB0D-9EFC41E68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94D6-F9D8-48AF-AFDF-F8F9A9BD9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36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1F71-E81B-253A-7CDF-8DC6F2929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8FD20A-FB16-DAA8-0E85-37CF82126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690386-BED5-9993-2C75-B05EC6B2E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6E61-7B8C-4F42-A9E9-943560D43BF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9E7B12-521E-562D-21FE-5F520BBEF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CE239-B362-EE86-928D-69953A38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94D6-F9D8-48AF-AFDF-F8F9A9BD9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6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BDBE6C-943D-5A33-7D1B-3A4F1EDBE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4C9EDD-0569-D96C-6A7B-362DA87C6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9A1EE2-D9B6-E338-8C5A-BDD949C20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391CDF-0515-A254-0A61-CCC33FB8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6E61-7B8C-4F42-A9E9-943560D43BF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C41ED4-A0ED-9BFA-D69B-D04677F9D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D54D69-4713-2B03-357C-9340D35AE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94D6-F9D8-48AF-AFDF-F8F9A9BD9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439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BFB29-441C-F3DD-78F3-84D27D50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3C87E1-8618-84BF-74F7-38081CF6F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8DF833-4B5A-F1F0-A398-7DE06C30F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A3A3EE-0BBB-49C6-BDD0-D8CDC9E33A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65A323-8841-7042-EA6C-78B09FB40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CA3875-A50F-7E29-030A-BBF454DEA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6E61-7B8C-4F42-A9E9-943560D43BF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79FB9B-532D-3E0A-D766-FC140D7B6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CE2592-55FC-E886-F1D7-B793165E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94D6-F9D8-48AF-AFDF-F8F9A9BD9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817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F39EC-A434-DC20-E882-1317FEF8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778A78-325B-5407-2615-54790C247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6E61-7B8C-4F42-A9E9-943560D43BF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4D9999-FE58-59AA-1F80-D9DC4552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9A26ED-8575-839A-445D-99529FE57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94D6-F9D8-48AF-AFDF-F8F9A9BD9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61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ABA248-B3E8-26D0-68F2-2C2C9E30D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6E61-7B8C-4F42-A9E9-943560D43BF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89FF7D6-05DA-610C-79EB-098BADB8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2455C8-8931-8C25-33F1-A91180C8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94D6-F9D8-48AF-AFDF-F8F9A9BD9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602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125425-C923-56B4-DF01-FEE260482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0B3896-70C4-C906-5FB1-F67AED711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D9E66C-BA21-0212-7533-EAE668C7A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2F526B-DF08-1297-7D33-18A936A6E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6E61-7B8C-4F42-A9E9-943560D43BF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A1C876-BA02-4934-A4BE-1250CB415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8A3E8E-2ED8-014F-80EA-260715953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94D6-F9D8-48AF-AFDF-F8F9A9BD9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599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413B8-9DEF-C0E6-BA6B-B24C25860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7232183-EF74-0234-C61D-76849ED8F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F7A8EC-4BE1-54CB-96BF-1BC4304FA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F6CB31-64A8-7FD9-7D5F-9E95FDA8F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6E61-7B8C-4F42-A9E9-943560D43BF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13CC19-ED69-FFD8-2849-0F1D71A9D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BA4A07-7AF9-63DC-C54C-7DD42CCB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94D6-F9D8-48AF-AFDF-F8F9A9BD9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019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9C306-85C9-5BA4-E81E-E2FA3141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E98C04-250C-8B1A-D169-08F3C6BBF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2D8774-E063-6ADF-04EC-04FB5782E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6E61-7B8C-4F42-A9E9-943560D43BF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2D901C-43EE-0E1A-3BF0-BAB11CEA6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0B7EB8-A4C1-BBB6-1F26-4EF10C67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94D6-F9D8-48AF-AFDF-F8F9A9BD9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650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D99B9D-CFF2-6F31-FF07-6F900B2735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7D3029-FA33-8AAD-75BC-731DBFD09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052656-6B4C-64F5-4ED9-78D443948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6E61-7B8C-4F42-A9E9-943560D43BF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ECA1F8-1B98-8E56-7482-A28468DBB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A8AB9-2F55-7159-6134-85ACB49E1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94D6-F9D8-48AF-AFDF-F8F9A9BD9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723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8EFF1B-6E66-D7F7-BC2A-1A577CD77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831E9-F0E3-76D8-F52C-E6E8E561E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B16847-117D-59C6-9042-67029BE71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A76E61-7B8C-4F42-A9E9-943560D43BF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F0F64B-4FFC-BC79-FD92-F8914338B9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CBDED2-BDAE-4F43-FA3E-8F016B3D5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4A94D6-F9D8-48AF-AFDF-F8F9A9BD9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396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ewiki.net/wiki/%EC%8B%AC%EC%A6%88_4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twiki.kr/w/%EB%8F%99%EA%B8%B0%EB%B6%80%EC%97%AC_%EC%9D%B4%EB%A1%A0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nymetsandknicks.tistory.com/entry/%EC%99%84%EB%B2%BD%ED%95%98%EA%B2%8C-%EA%B3%B5%EC%A0%95%ED%95%9C-%EC%8A%A4%ED%8A%B8%EB%9D%BC%EC%9D%B4%ED%81%AC-%EC%A1%B4%EC%9D%B4%EB%9E%80-%EC%97%86%EC%9D%84%EC%A7%80%EB%8F%84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356761-9C35-30AF-A954-D1067C26CE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Utility AI</a:t>
            </a:r>
            <a:r>
              <a:rPr lang="ko-KR" altLang="en-US" dirty="0"/>
              <a:t>의 구현과 검증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006414-6E15-6CA4-F810-C15835AB56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민필기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977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C48D68-A6BA-27D3-C88E-2C06B10FC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Utility AI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65D4722-19C6-5AAB-FAFF-80FBF9F29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65102" y="1397039"/>
            <a:ext cx="2980896" cy="420680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630B73-938B-AEA6-1B18-EFBCA2196860}"/>
              </a:ext>
            </a:extLst>
          </p:cNvPr>
          <p:cNvSpPr txBox="1"/>
          <p:nvPr/>
        </p:nvSpPr>
        <p:spPr>
          <a:xfrm>
            <a:off x="914048" y="2623279"/>
            <a:ext cx="48643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게임 </a:t>
            </a:r>
            <a:r>
              <a:rPr lang="en-US" altLang="ko-KR" dirty="0"/>
              <a:t>NPC</a:t>
            </a:r>
            <a:r>
              <a:rPr lang="ko-KR" altLang="en-US" dirty="0"/>
              <a:t>를 위한 인공지능의 한 종류로</a:t>
            </a:r>
            <a:endParaRPr lang="en-US" altLang="ko-KR" dirty="0"/>
          </a:p>
          <a:p>
            <a:r>
              <a:rPr lang="ko-KR" altLang="en-US" dirty="0"/>
              <a:t>유용성</a:t>
            </a:r>
            <a:r>
              <a:rPr lang="en-US" altLang="ko-KR" dirty="0"/>
              <a:t>(Utility) </a:t>
            </a:r>
            <a:r>
              <a:rPr lang="ko-KR" altLang="en-US" dirty="0"/>
              <a:t>를 평가하여 가장 최적의 행동을 하도록 돕는 </a:t>
            </a:r>
            <a:r>
              <a:rPr lang="en-US" altLang="ko-KR" dirty="0"/>
              <a:t>AI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Utility AI</a:t>
            </a:r>
            <a:r>
              <a:rPr lang="ko-KR" altLang="en-US" dirty="0"/>
              <a:t>를 사용한 대표적인 게임으로 </a:t>
            </a:r>
            <a:r>
              <a:rPr lang="ko-KR" altLang="en-US" dirty="0" err="1"/>
              <a:t>심즈가</a:t>
            </a:r>
            <a:r>
              <a:rPr lang="ko-KR" altLang="en-US" dirty="0"/>
              <a:t>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8608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690201-FAF3-53D2-1D51-D2C00B9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설계의 고려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F55435-E8ED-5486-FB7F-0B32E4575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시스템의 목표는 무엇인가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행동을 어떻게 평가할 것인가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상호작용을 어떻게 구현할 것인가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어떻게 검증할 것인가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9851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3C4658-5AB0-A51A-0113-09AA8A315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시스템의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C63158-7C1D-5BDA-0341-A3B3C490C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현실적인 인간의 생활 혹은 인간관계를 표현하는 시스템</a:t>
            </a:r>
            <a:endParaRPr lang="en-US" altLang="ko-KR" dirty="0"/>
          </a:p>
          <a:p>
            <a:r>
              <a:rPr lang="ko-KR" altLang="en-US" dirty="0"/>
              <a:t>스스로 자신에게 필요한 것</a:t>
            </a:r>
            <a:r>
              <a:rPr lang="en-US" altLang="ko-KR" dirty="0"/>
              <a:t>(e.g. </a:t>
            </a:r>
            <a:r>
              <a:rPr lang="ko-KR" altLang="en-US" dirty="0"/>
              <a:t>식사</a:t>
            </a:r>
            <a:r>
              <a:rPr lang="en-US" altLang="ko-KR" dirty="0"/>
              <a:t>, </a:t>
            </a:r>
            <a:r>
              <a:rPr lang="ko-KR" altLang="en-US" dirty="0"/>
              <a:t>휴식</a:t>
            </a:r>
            <a:r>
              <a:rPr lang="en-US" altLang="ko-KR" dirty="0"/>
              <a:t>)</a:t>
            </a:r>
            <a:r>
              <a:rPr lang="ko-KR" altLang="en-US" dirty="0"/>
              <a:t>을 찾아서 일정 상태를 안정적으로 유지하는</a:t>
            </a:r>
            <a:r>
              <a:rPr lang="en-US" altLang="ko-KR" dirty="0"/>
              <a:t> </a:t>
            </a:r>
            <a:r>
              <a:rPr lang="ko-KR" altLang="en-US" dirty="0"/>
              <a:t>시스템</a:t>
            </a:r>
            <a:endParaRPr lang="en-US" altLang="ko-KR" dirty="0"/>
          </a:p>
          <a:p>
            <a:r>
              <a:rPr lang="ko-KR" altLang="en-US" dirty="0"/>
              <a:t>현실의 인간관계처럼 복잡한 관계를 가진</a:t>
            </a:r>
            <a:r>
              <a:rPr lang="en-US" altLang="ko-KR" dirty="0"/>
              <a:t> </a:t>
            </a:r>
            <a:r>
              <a:rPr lang="ko-KR" altLang="en-US" dirty="0"/>
              <a:t>시스템</a:t>
            </a:r>
            <a:endParaRPr lang="en-US" altLang="ko-KR" dirty="0"/>
          </a:p>
          <a:p>
            <a:r>
              <a:rPr lang="ko-KR" altLang="en-US" dirty="0"/>
              <a:t>스킬 등을 배우며 스스로 성장하는 시스템</a:t>
            </a:r>
            <a:endParaRPr lang="en-US" altLang="ko-KR" dirty="0"/>
          </a:p>
          <a:p>
            <a:r>
              <a:rPr lang="ko-KR" altLang="en-US" dirty="0"/>
              <a:t>인간의 다양한 욕구를 표현할 수 있는 시스템</a:t>
            </a:r>
          </a:p>
        </p:txBody>
      </p:sp>
    </p:spTree>
    <p:extLst>
      <p:ext uri="{BB962C8B-B14F-4D97-AF65-F5344CB8AC3E}">
        <p14:creationId xmlns:p14="http://schemas.microsoft.com/office/powerpoint/2010/main" val="338672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08231-B027-20C0-E898-CDE278F83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의 욕구 설계의 기반 이론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837E98-89B6-2F40-C74B-49BDB20E8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147216" cy="4351338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인간의 욕구에 대한 이론은 많지만 대표적으로 </a:t>
            </a:r>
            <a:r>
              <a:rPr lang="ko-KR" altLang="en-US" dirty="0" err="1"/>
              <a:t>메슬로우의</a:t>
            </a:r>
            <a:r>
              <a:rPr lang="ko-KR" altLang="en-US" dirty="0"/>
              <a:t> 이론이 있음</a:t>
            </a:r>
            <a:endParaRPr lang="en-US" altLang="ko-KR" dirty="0"/>
          </a:p>
          <a:p>
            <a:r>
              <a:rPr lang="ko-KR" altLang="en-US" dirty="0"/>
              <a:t>생존에 직결되는 하위 욕구가 충족되어야 상위 욕구를 찾게 된다는 이론임</a:t>
            </a:r>
            <a:endParaRPr lang="en-US" altLang="ko-KR" dirty="0"/>
          </a:p>
          <a:p>
            <a:r>
              <a:rPr lang="ko-KR" altLang="en-US" dirty="0"/>
              <a:t>하지만 실제 현실에서는 가난하지만 꿈을 쫓는 예술가처럼 하위 욕구가 충족 되지 않아도 상위 욕구를 추구하는 사람이 존재함</a:t>
            </a:r>
            <a:endParaRPr lang="en-US" altLang="ko-KR" dirty="0"/>
          </a:p>
          <a:p>
            <a:r>
              <a:rPr lang="ko-KR" altLang="en-US" dirty="0"/>
              <a:t>따라서 이 시스템에서는 이 이론을 적용하지 않음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C8891B-F9B4-B749-8F6C-66C109667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09383" y="1825625"/>
            <a:ext cx="3918054" cy="378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59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8278E-5AED-248B-CB00-4870EFB9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44DAE8-DD66-7D42-CA08-6AC5B521D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의 욕구 설계의 기반 이론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BC3DF8-70FD-03B7-2518-6E7EF2429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147216" cy="4351338"/>
          </a:xfrm>
        </p:spPr>
        <p:txBody>
          <a:bodyPr>
            <a:normAutofit fontScale="92500"/>
          </a:bodyPr>
          <a:lstStyle/>
          <a:p>
            <a:r>
              <a:rPr lang="en-US" altLang="ko-KR" dirty="0"/>
              <a:t>ERG </a:t>
            </a:r>
            <a:r>
              <a:rPr lang="ko-KR" altLang="en-US" dirty="0"/>
              <a:t>이론</a:t>
            </a:r>
            <a:endParaRPr lang="en-US" altLang="ko-KR" dirty="0"/>
          </a:p>
          <a:p>
            <a:r>
              <a:rPr lang="ko-KR" altLang="en-US" dirty="0"/>
              <a:t>인간에겐 존재 욕구</a:t>
            </a:r>
            <a:r>
              <a:rPr lang="en-US" altLang="ko-KR" dirty="0"/>
              <a:t>, </a:t>
            </a:r>
            <a:r>
              <a:rPr lang="ko-KR" altLang="en-US" dirty="0"/>
              <a:t>관계 욕구</a:t>
            </a:r>
            <a:r>
              <a:rPr lang="en-US" altLang="ko-KR" dirty="0"/>
              <a:t>, </a:t>
            </a:r>
            <a:r>
              <a:rPr lang="ko-KR" altLang="en-US" dirty="0"/>
              <a:t>성장 욕구가 존재함</a:t>
            </a:r>
            <a:endParaRPr lang="en-US" altLang="ko-KR" dirty="0"/>
          </a:p>
          <a:p>
            <a:r>
              <a:rPr lang="ko-KR" altLang="en-US" dirty="0"/>
              <a:t>욕구에는 어떤 순서가 있는 것이 아니고</a:t>
            </a:r>
            <a:r>
              <a:rPr lang="en-US" altLang="ko-KR" dirty="0"/>
              <a:t>, </a:t>
            </a:r>
            <a:r>
              <a:rPr lang="ko-KR" altLang="en-US" dirty="0"/>
              <a:t>동시에 여러 욕구가 발생 할 수 있음</a:t>
            </a:r>
            <a:endParaRPr lang="en-US" altLang="ko-KR" dirty="0"/>
          </a:p>
          <a:p>
            <a:r>
              <a:rPr lang="ko-KR" altLang="en-US" dirty="0"/>
              <a:t>각 욕구가 충족되지 않으면 상위 욕구 혹은 하위 욕구에 영향을 미침</a:t>
            </a:r>
            <a:endParaRPr lang="en-US" altLang="ko-KR" dirty="0"/>
          </a:p>
          <a:p>
            <a:r>
              <a:rPr lang="ko-KR" altLang="en-US" dirty="0"/>
              <a:t>욕구 구조의 개인차를 인정함</a:t>
            </a:r>
            <a:endParaRPr lang="en-US" altLang="ko-KR" dirty="0"/>
          </a:p>
          <a:p>
            <a:r>
              <a:rPr lang="ko-KR" altLang="en-US" dirty="0"/>
              <a:t>이 시스템에는 이 이론을 일부 도입함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903EC61C-690D-DBA6-29E7-CCFB1F107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380" y="2290762"/>
            <a:ext cx="4043362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652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48F8E-9908-0780-0A62-46B8CEA0D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시스템상 </a:t>
            </a:r>
            <a:r>
              <a:rPr lang="en-US" altLang="ko-KR" dirty="0"/>
              <a:t>AI</a:t>
            </a:r>
            <a:r>
              <a:rPr lang="ko-KR" altLang="en-US" dirty="0"/>
              <a:t>의 욕구에 대해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CA486B-ECC4-B069-B660-87C05B35E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325562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dirty="0"/>
              <a:t>이 시스템에는 </a:t>
            </a:r>
            <a:r>
              <a:rPr lang="en-US" altLang="ko-KR" dirty="0"/>
              <a:t>AI</a:t>
            </a:r>
            <a:r>
              <a:rPr lang="ko-KR" altLang="en-US" dirty="0"/>
              <a:t>가 충족해야 </a:t>
            </a:r>
            <a:r>
              <a:rPr lang="en-US" altLang="ko-KR" dirty="0"/>
              <a:t>8</a:t>
            </a:r>
            <a:r>
              <a:rPr lang="ko-KR" altLang="en-US" dirty="0"/>
              <a:t>개의 욕구가 있음</a:t>
            </a:r>
            <a:endParaRPr lang="en-US" altLang="ko-KR" dirty="0"/>
          </a:p>
          <a:p>
            <a:r>
              <a:rPr lang="ko-KR" altLang="en-US" dirty="0"/>
              <a:t>각 욕구는 </a:t>
            </a:r>
            <a:r>
              <a:rPr lang="en-US" altLang="ko-KR" dirty="0"/>
              <a:t>0</a:t>
            </a:r>
            <a:r>
              <a:rPr lang="ko-KR" altLang="en-US" dirty="0"/>
              <a:t>부터 </a:t>
            </a:r>
            <a:r>
              <a:rPr lang="en-US" altLang="ko-KR" dirty="0"/>
              <a:t>100</a:t>
            </a:r>
            <a:r>
              <a:rPr lang="ko-KR" altLang="en-US" dirty="0"/>
              <a:t>까지의 실수</a:t>
            </a:r>
            <a:endParaRPr lang="en-US" altLang="ko-KR" dirty="0"/>
          </a:p>
          <a:p>
            <a:r>
              <a:rPr lang="ko-KR" altLang="en-US" dirty="0"/>
              <a:t>각 욕구는 </a:t>
            </a:r>
            <a:r>
              <a:rPr lang="en-US" altLang="ko-KR" dirty="0"/>
              <a:t>3</a:t>
            </a:r>
            <a:r>
              <a:rPr lang="ko-KR" altLang="en-US" dirty="0"/>
              <a:t>종류의 타입이 존재함</a:t>
            </a:r>
            <a:endParaRPr lang="en-US" altLang="ko-KR" dirty="0"/>
          </a:p>
          <a:p>
            <a:r>
              <a:rPr lang="ko-KR" altLang="en-US" dirty="0"/>
              <a:t>타입은 생존을 위한 </a:t>
            </a:r>
            <a:r>
              <a:rPr lang="en-US" altLang="ko-KR" dirty="0"/>
              <a:t>E, </a:t>
            </a:r>
            <a:r>
              <a:rPr lang="ko-KR" altLang="en-US" dirty="0"/>
              <a:t>사회적 욕구 혹은 즐거움의 </a:t>
            </a:r>
            <a:r>
              <a:rPr lang="en-US" altLang="ko-KR" dirty="0"/>
              <a:t>R, </a:t>
            </a:r>
            <a:r>
              <a:rPr lang="ko-KR" altLang="en-US" dirty="0"/>
              <a:t>인격적 성장을 위한 </a:t>
            </a:r>
            <a:r>
              <a:rPr lang="en-US" altLang="ko-KR" dirty="0"/>
              <a:t>G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4298994-6570-5BF3-0651-8412F244C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65036"/>
              </p:ext>
            </p:extLst>
          </p:nvPr>
        </p:nvGraphicFramePr>
        <p:xfrm>
          <a:off x="2492213" y="3201035"/>
          <a:ext cx="7207573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769">
                  <a:extLst>
                    <a:ext uri="{9D8B030D-6E8A-4147-A177-3AD203B41FA5}">
                      <a16:colId xmlns:a16="http://schemas.microsoft.com/office/drawing/2014/main" val="2778200895"/>
                    </a:ext>
                  </a:extLst>
                </a:gridCol>
                <a:gridCol w="2419263">
                  <a:extLst>
                    <a:ext uri="{9D8B030D-6E8A-4147-A177-3AD203B41FA5}">
                      <a16:colId xmlns:a16="http://schemas.microsoft.com/office/drawing/2014/main" val="1431916538"/>
                    </a:ext>
                  </a:extLst>
                </a:gridCol>
                <a:gridCol w="2449541">
                  <a:extLst>
                    <a:ext uri="{9D8B030D-6E8A-4147-A177-3AD203B41FA5}">
                      <a16:colId xmlns:a16="http://schemas.microsoft.com/office/drawing/2014/main" val="1942007830"/>
                    </a:ext>
                  </a:extLst>
                </a:gridCol>
              </a:tblGrid>
              <a:tr h="2766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욕구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타입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695337"/>
                  </a:ext>
                </a:extLst>
              </a:tr>
              <a:tr h="2766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Hungry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허기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262605"/>
                  </a:ext>
                </a:extLst>
              </a:tr>
              <a:tr h="2766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Fatigue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피곤함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936964"/>
                  </a:ext>
                </a:extLst>
              </a:tr>
              <a:tr h="2766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Toilet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용변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635285"/>
                  </a:ext>
                </a:extLst>
              </a:tr>
              <a:tr h="2766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Hygiene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위생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024547"/>
                  </a:ext>
                </a:extLst>
              </a:tr>
              <a:tr h="276625">
                <a:tc>
                  <a:txBody>
                    <a:bodyPr/>
                    <a:lstStyle/>
                    <a:p>
                      <a:r>
                        <a:rPr lang="en-US" altLang="ko-KR" dirty="0"/>
                        <a:t>Fun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즐거움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589254"/>
                  </a:ext>
                </a:extLst>
              </a:tr>
              <a:tr h="2766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Loneliness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외로움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670164"/>
                  </a:ext>
                </a:extLst>
              </a:tr>
              <a:tr h="2766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Rloneliness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연애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19890"/>
                  </a:ext>
                </a:extLst>
              </a:tr>
              <a:tr h="2766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Motivation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동기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81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466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09339-8BB7-15D9-058A-7D863C131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 타입의 특성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8A54953-1321-EFFC-A66F-4E45D73124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E </a:t>
                </a:r>
                <a:r>
                  <a:rPr lang="ko-KR" altLang="en-US" dirty="0"/>
                  <a:t>타입의 욕구는 생명유지와 건강에 직결되므로 만일 기준치 이하가 된다면 급격히 필요해짐</a:t>
                </a:r>
                <a:endParaRPr lang="en-US" altLang="ko-KR" dirty="0"/>
              </a:p>
              <a:p>
                <a:r>
                  <a:rPr lang="ko-KR" altLang="en-US" dirty="0"/>
                  <a:t>하지만 욕구가 어느 정도 충족 된다면 더 이상은 생각이 안 남</a:t>
                </a:r>
                <a:br>
                  <a:rPr lang="en-US" altLang="ko-KR" dirty="0"/>
                </a:br>
                <a:r>
                  <a:rPr lang="en-US" altLang="ko-KR" dirty="0"/>
                  <a:t>(</a:t>
                </a:r>
                <a:r>
                  <a:rPr lang="ko-KR" altLang="en-US" dirty="0"/>
                  <a:t>배부른 상태에서는 더 이상 먹고 싶지 않음</a:t>
                </a:r>
                <a:r>
                  <a:rPr lang="en-US" altLang="ko-KR" dirty="0"/>
                  <a:t>)</a:t>
                </a:r>
              </a:p>
              <a:p>
                <a:r>
                  <a:rPr lang="ko-KR" altLang="en-US" dirty="0"/>
                  <a:t>이 시스템에서는 다음과 같은 수식으로 욕구 가중치를 표현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diff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=(100−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need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cur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),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score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0.3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diff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−50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/3</m:t>
                        </m:r>
                      </m:sup>
                    </m:sSup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8A54953-1321-EFFC-A66F-4E45D73124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0886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A631E-443A-225C-4435-E00F8B397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F1878-9AD7-8D84-8E40-48D637D43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 타입의 특성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B52CE52-63FF-5E32-791D-71488727F9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R </a:t>
                </a:r>
                <a:r>
                  <a:rPr lang="ko-KR" altLang="en-US" dirty="0"/>
                  <a:t>타입의 욕구는 인간관계 혹은 즐거움을 의미함</a:t>
                </a:r>
                <a:endParaRPr lang="en-US" altLang="ko-KR" dirty="0"/>
              </a:p>
              <a:p>
                <a:r>
                  <a:rPr lang="ko-KR" altLang="en-US" dirty="0"/>
                  <a:t>부족하다고 생명의 위협을 느끼지는 않지만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개인의 행복에 관여하므로 필요함</a:t>
                </a:r>
                <a:endParaRPr lang="en-US" altLang="ko-KR" dirty="0"/>
              </a:p>
              <a:p>
                <a:r>
                  <a:rPr lang="ko-KR" altLang="en-US" dirty="0"/>
                  <a:t>인간은 놀고 싶은 욕망과 인간관계에 대한 욕망이 있으므로 일반적 상황에서는 가장 우세함</a:t>
                </a:r>
                <a:endParaRPr lang="en-US" altLang="ko-KR" dirty="0"/>
              </a:p>
              <a:p>
                <a:r>
                  <a:rPr lang="ko-KR" altLang="en-US" dirty="0"/>
                  <a:t>이 시스템에서는 다음의 식으로 표현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diff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=(100−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need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cur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),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score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=1000+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diff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B52CE52-63FF-5E32-791D-71488727F9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054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4D6B1-4D05-AD19-7CCB-DD21ACD8C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006433-78A8-FBF6-3D1B-8413D94DC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 타입의 특성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5CCA8B5-B930-2FF9-F62B-A3055E7186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G </a:t>
                </a:r>
                <a:r>
                  <a:rPr lang="ko-KR" altLang="en-US" dirty="0"/>
                  <a:t>타입은 개인의 성장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자아실현에 관련됨</a:t>
                </a:r>
                <a:endParaRPr lang="en-US" altLang="ko-KR" dirty="0"/>
              </a:p>
              <a:p>
                <a:r>
                  <a:rPr lang="ko-KR" altLang="en-US" dirty="0"/>
                  <a:t> 이 시스템에서는 스킬의 연습 혹은 과목의 공부에 관여함</a:t>
                </a:r>
                <a:endParaRPr lang="en-US" altLang="ko-KR" dirty="0"/>
              </a:p>
              <a:p>
                <a:r>
                  <a:rPr lang="ko-KR" altLang="en-US" dirty="0"/>
                  <a:t>숙제가 있어도 친구와 놀거나 만화를 보는 학생들처럼 항상 작용 하지 않고 오히려 다른 욕구가 충족되어야 비로소 영향을 발휘함</a:t>
                </a:r>
                <a:endParaRPr lang="en-US" altLang="ko-KR" dirty="0"/>
              </a:p>
              <a:p>
                <a:r>
                  <a:rPr lang="ko-KR" altLang="en-US" dirty="0"/>
                  <a:t>이 시스템에서는 다음의 수식으로 표현함</a:t>
                </a:r>
                <a:br>
                  <a:rPr lang="en-US" altLang="ko-KR" dirty="0"/>
                </a:br>
                <a:r>
                  <a:rPr lang="en-US" altLang="ko-KR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diff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100−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val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score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= 2000∙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diff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+1000</m:t>
                    </m:r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5CCA8B5-B930-2FF9-F62B-A3055E7186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663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FFBE-9175-BDDC-F934-455C4F318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 타입의 특성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C9B8A585-943C-E0C6-1DB0-A87C8C6C8A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341" y="1825625"/>
            <a:ext cx="9095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472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9A922-8837-47E3-F4E0-662330883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행동 평가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22103-659B-3CE1-F791-C356DE1E9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모든 액션에는 결과값이 존재</a:t>
            </a:r>
            <a:endParaRPr lang="en-US" altLang="ko-KR" dirty="0"/>
          </a:p>
          <a:p>
            <a:r>
              <a:rPr lang="ko-KR" altLang="en-US" dirty="0"/>
              <a:t>스킬의 경험치</a:t>
            </a:r>
            <a:r>
              <a:rPr lang="en-US" altLang="ko-KR" dirty="0"/>
              <a:t>, </a:t>
            </a:r>
            <a:r>
              <a:rPr lang="ko-KR" altLang="en-US" dirty="0"/>
              <a:t>호감도</a:t>
            </a:r>
            <a:r>
              <a:rPr lang="en-US" altLang="ko-KR" dirty="0"/>
              <a:t> </a:t>
            </a:r>
            <a:r>
              <a:rPr lang="ko-KR" altLang="en-US" dirty="0"/>
              <a:t>혹은 배고픔과 같은 상태 변화</a:t>
            </a:r>
            <a:endParaRPr lang="en-US" altLang="ko-KR" dirty="0"/>
          </a:p>
          <a:p>
            <a:r>
              <a:rPr lang="ko-KR" altLang="en-US" dirty="0"/>
              <a:t>모든 능력치를 하나의 함수로 평가하는 것은 어렵다</a:t>
            </a:r>
            <a:endParaRPr lang="en-US" altLang="ko-KR" dirty="0"/>
          </a:p>
          <a:p>
            <a:r>
              <a:rPr lang="ko-KR" altLang="en-US" dirty="0"/>
              <a:t>따라서 모든 능력치의 변화를 </a:t>
            </a:r>
            <a:r>
              <a:rPr lang="en-US" altLang="ko-KR" dirty="0"/>
              <a:t>AI</a:t>
            </a:r>
            <a:r>
              <a:rPr lang="ko-KR" altLang="en-US" dirty="0"/>
              <a:t>가 필요로 하는 욕구로 환산하여 계산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43917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D8B18-CDF6-6479-6CD3-E6062657E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점수의 계산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3A792F-0BE0-EB8A-0503-0D9FDEAA3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95090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dirty="0"/>
              <a:t>각 욕구의 부족한 양을 계산해 이를 기반으로 각 행동의 결과값을 평가함</a:t>
            </a:r>
            <a:endParaRPr lang="en-US" altLang="ko-KR" dirty="0"/>
          </a:p>
          <a:p>
            <a:r>
              <a:rPr lang="ko-KR" altLang="en-US" dirty="0"/>
              <a:t>이 점수가 가장 높은 행동을 가장 필요한 행동으로 보고 시행함</a:t>
            </a:r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47CC96-22F0-488C-24DE-CD2B64AD1BFA}"/>
                  </a:ext>
                </a:extLst>
              </p:cNvPr>
              <p:cNvSpPr txBox="1"/>
              <p:nvPr/>
            </p:nvSpPr>
            <p:spPr>
              <a:xfrm>
                <a:off x="1197339" y="3580018"/>
                <a:ext cx="9797321" cy="5425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3200" b="0" dirty="0"/>
                  <a:t>s</a:t>
                </a:r>
                <a14:m>
                  <m:oMath xmlns:m="http://schemas.openxmlformats.org/officeDocument/2006/math"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𝑐𝑜𝑟𝑒</m:t>
                    </m:r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altLang="ko-K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types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3200" b="0" i="1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3200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3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sz="3200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ko-KR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altLang="ko-KR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needs</m:t>
                            </m:r>
                            <m:r>
                              <a:rPr lang="en-US" altLang="ko-KR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ko-KR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altLang="ko-KR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</a:rPr>
                                      <m:t>cur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3200" b="0" i="1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  <m:r>
                      <a:rPr lang="en-US" altLang="ko-KR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ko-K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47CC96-22F0-488C-24DE-CD2B64AD1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339" y="3580018"/>
                <a:ext cx="9797321" cy="542584"/>
              </a:xfrm>
              <a:prstGeom prst="rect">
                <a:avLst/>
              </a:prstGeom>
              <a:blipFill>
                <a:blip r:embed="rId2"/>
                <a:stretch>
                  <a:fillRect l="-2488" t="-24719" b="-337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15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17449-410F-BB31-2848-BA2ECEADE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개인차의 고려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CDF90D-7C07-8F26-B000-0F3159D72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65109"/>
          </a:xfrm>
        </p:spPr>
        <p:txBody>
          <a:bodyPr/>
          <a:lstStyle/>
          <a:p>
            <a:r>
              <a:rPr lang="ko-KR" altLang="en-US" dirty="0"/>
              <a:t>같은 행동이지만</a:t>
            </a:r>
            <a:r>
              <a:rPr lang="en-US" altLang="ko-KR" dirty="0"/>
              <a:t> </a:t>
            </a:r>
            <a:r>
              <a:rPr lang="ko-KR" altLang="en-US" dirty="0"/>
              <a:t>더 피로를 느끼는 사람이 있듯이 개인차를 고려해야 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9908CD-69F3-B1CE-1C2D-D279940D37AF}"/>
              </a:ext>
            </a:extLst>
          </p:cNvPr>
          <p:cNvSpPr/>
          <p:nvPr/>
        </p:nvSpPr>
        <p:spPr>
          <a:xfrm>
            <a:off x="1828801" y="3485213"/>
            <a:ext cx="2315980" cy="16189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행동의 결과값 계산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4D1465-8732-BF07-D928-72602B3C1440}"/>
              </a:ext>
            </a:extLst>
          </p:cNvPr>
          <p:cNvSpPr/>
          <p:nvPr/>
        </p:nvSpPr>
        <p:spPr>
          <a:xfrm>
            <a:off x="5054184" y="3485213"/>
            <a:ext cx="2315980" cy="16189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개인차를 고려한 결과값 계산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0E76B7-B0F4-A87B-90A3-2CCB235C85DB}"/>
              </a:ext>
            </a:extLst>
          </p:cNvPr>
          <p:cNvSpPr/>
          <p:nvPr/>
        </p:nvSpPr>
        <p:spPr>
          <a:xfrm>
            <a:off x="8441961" y="3485213"/>
            <a:ext cx="2315980" cy="16189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점수로 환산</a:t>
            </a: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774F11A8-B59B-6ECA-FB42-697B0BB1437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144780" y="4294682"/>
            <a:ext cx="900000" cy="0"/>
          </a:xfrm>
          <a:prstGeom prst="bentConnector3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41DD38C9-9B99-74BD-58CF-F8255D45451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370164" y="4294682"/>
            <a:ext cx="1071797" cy="0"/>
          </a:xfrm>
          <a:prstGeom prst="bentConnector3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113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8385B-FA48-2871-5945-99821A822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개인차의 고려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8CE4E2-9174-4369-08EA-EF28655E7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그 밖에 </a:t>
            </a:r>
            <a:r>
              <a:rPr lang="en-US" altLang="ko-KR" dirty="0"/>
              <a:t>MBTI </a:t>
            </a:r>
            <a:r>
              <a:rPr lang="ko-KR" altLang="en-US" dirty="0"/>
              <a:t>성격 유형에 따른 보너스도 고려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CC3C570-F25B-7530-3104-E4E7F5C75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679025"/>
              </p:ext>
            </p:extLst>
          </p:nvPr>
        </p:nvGraphicFramePr>
        <p:xfrm>
          <a:off x="2032000" y="3074194"/>
          <a:ext cx="8128000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734952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856187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효과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967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I_E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r>
                        <a:rPr lang="ko-KR" altLang="en-US" dirty="0"/>
                        <a:t>성향은 외로움을 크게 느낌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579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N_S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r>
                        <a:rPr lang="ko-KR" altLang="en-US" dirty="0"/>
                        <a:t>성향은 </a:t>
                      </a:r>
                      <a:r>
                        <a:rPr lang="en-US" altLang="ko-KR" dirty="0"/>
                        <a:t>G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Need</a:t>
                      </a:r>
                      <a:r>
                        <a:rPr lang="ko-KR" altLang="en-US" dirty="0"/>
                        <a:t>를 중시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추상적 기술 중시</a:t>
                      </a:r>
                      <a:r>
                        <a:rPr lang="en-US" altLang="ko-KR" dirty="0"/>
                        <a:t>,</a:t>
                      </a:r>
                    </a:p>
                    <a:p>
                      <a:pPr latinLnBrk="1"/>
                      <a:r>
                        <a:rPr lang="en-US" altLang="ko-KR" dirty="0"/>
                        <a:t>S</a:t>
                      </a:r>
                      <a:r>
                        <a:rPr lang="ko-KR" altLang="en-US" dirty="0"/>
                        <a:t>성향은 현실 중시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실질적 기술 중시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678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F_T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미정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44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P_J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미정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727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88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1C4EB8-549C-09BD-20E9-EBA083C11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의 상호작용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7A3128-B1A7-9433-F7A8-603A3CBAB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11857"/>
          </a:xfrm>
        </p:spPr>
        <p:txBody>
          <a:bodyPr>
            <a:normAutofit/>
          </a:bodyPr>
          <a:lstStyle/>
          <a:p>
            <a:r>
              <a:rPr lang="ko-KR" altLang="en-US" dirty="0"/>
              <a:t>이 시스템에서는 </a:t>
            </a:r>
            <a:r>
              <a:rPr lang="en-US" altLang="ko-KR" dirty="0"/>
              <a:t>AI</a:t>
            </a:r>
            <a:r>
              <a:rPr lang="ko-KR" altLang="en-US" dirty="0"/>
              <a:t> 간의 대화를 통해 상호작용을 수행함</a:t>
            </a:r>
            <a:endParaRPr lang="en-US" altLang="ko-KR" dirty="0"/>
          </a:p>
          <a:p>
            <a:r>
              <a:rPr lang="ko-KR" altLang="en-US" dirty="0"/>
              <a:t>각 </a:t>
            </a:r>
            <a:r>
              <a:rPr lang="en-US" altLang="ko-KR" dirty="0"/>
              <a:t>AI</a:t>
            </a:r>
            <a:r>
              <a:rPr lang="ko-KR" altLang="en-US" dirty="0"/>
              <a:t>는 다른 </a:t>
            </a:r>
            <a:r>
              <a:rPr lang="en-US" altLang="ko-KR" dirty="0"/>
              <a:t>AI</a:t>
            </a:r>
            <a:r>
              <a:rPr lang="ko-KR" altLang="en-US" dirty="0"/>
              <a:t>에 상호작용을 요청할 수 있음</a:t>
            </a:r>
            <a:endParaRPr lang="en-US" altLang="ko-KR" dirty="0"/>
          </a:p>
          <a:p>
            <a:r>
              <a:rPr lang="ko-KR" altLang="en-US" dirty="0"/>
              <a:t>만약 </a:t>
            </a:r>
            <a:r>
              <a:rPr lang="en-US" altLang="ko-KR" dirty="0"/>
              <a:t>AI</a:t>
            </a:r>
            <a:r>
              <a:rPr lang="ko-KR" altLang="en-US" dirty="0"/>
              <a:t>의 판단으로 점수가 부족하면 거절 가능</a:t>
            </a:r>
            <a:endParaRPr lang="en-US" altLang="ko-KR" dirty="0"/>
          </a:p>
          <a:p>
            <a:r>
              <a:rPr lang="ko-KR" altLang="en-US" dirty="0"/>
              <a:t>대화의 주제는 </a:t>
            </a:r>
            <a:r>
              <a:rPr lang="en-US" altLang="ko-KR" dirty="0"/>
              <a:t>4</a:t>
            </a:r>
            <a:r>
              <a:rPr lang="ko-KR" altLang="en-US" dirty="0"/>
              <a:t>종류가 있음</a:t>
            </a:r>
          </a:p>
        </p:txBody>
      </p:sp>
    </p:spTree>
    <p:extLst>
      <p:ext uri="{BB962C8B-B14F-4D97-AF65-F5344CB8AC3E}">
        <p14:creationId xmlns:p14="http://schemas.microsoft.com/office/powerpoint/2010/main" val="1614257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0562F-915B-0947-07C0-DFEF34217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DD43B-34B7-B5F0-3DF3-68E467F93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의 상호작용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9247795-1683-B52F-110E-D90F70116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285751"/>
              </p:ext>
            </p:extLst>
          </p:nvPr>
        </p:nvGraphicFramePr>
        <p:xfrm>
          <a:off x="1546485" y="1690688"/>
          <a:ext cx="9099030" cy="449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515">
                  <a:extLst>
                    <a:ext uri="{9D8B030D-6E8A-4147-A177-3AD203B41FA5}">
                      <a16:colId xmlns:a16="http://schemas.microsoft.com/office/drawing/2014/main" val="2515423280"/>
                    </a:ext>
                  </a:extLst>
                </a:gridCol>
                <a:gridCol w="4549515">
                  <a:extLst>
                    <a:ext uri="{9D8B030D-6E8A-4147-A177-3AD203B41FA5}">
                      <a16:colId xmlns:a16="http://schemas.microsoft.com/office/drawing/2014/main" val="36466343"/>
                    </a:ext>
                  </a:extLst>
                </a:gridCol>
              </a:tblGrid>
              <a:tr h="5965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82356"/>
                  </a:ext>
                </a:extLst>
              </a:tr>
              <a:tr h="5965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General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참여자 사이의 관계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872312"/>
                  </a:ext>
                </a:extLst>
              </a:tr>
              <a:tr h="5965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Romance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참여자 사이의 연애 호감도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913810"/>
                  </a:ext>
                </a:extLst>
              </a:tr>
              <a:tr h="10554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Teach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화자가 알고 있는 기술을 공유하여 기술</a:t>
                      </a:r>
                      <a:r>
                        <a:rPr lang="en-US" altLang="ko-KR" sz="2000" dirty="0"/>
                        <a:t>, </a:t>
                      </a:r>
                      <a:r>
                        <a:rPr lang="ko-KR" altLang="en-US" sz="2000" dirty="0"/>
                        <a:t>과목 경험치 상승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301367"/>
                  </a:ext>
                </a:extLst>
              </a:tr>
              <a:tr h="10554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Compliant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칭찬을 통해 대상에 대한 참여자의 관계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566507"/>
                  </a:ext>
                </a:extLst>
              </a:tr>
              <a:tr h="5965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Put down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대상과 참여자의 관계 훼손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581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135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53E24B-34AB-E705-6C1A-DC0DE2F2D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의 상호작용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AD45A8-7AE7-2DED-B9DF-39B28A109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모든 참여자는 제한 시간동안 최적의 주제를 선택하고 시간이 다되면 그 효과를 받음</a:t>
            </a:r>
            <a:endParaRPr lang="en-US" altLang="ko-KR" dirty="0"/>
          </a:p>
          <a:p>
            <a:r>
              <a:rPr lang="ko-KR" altLang="en-US" dirty="0"/>
              <a:t>다른 참여자가 받은 효과를 점수로 환산하여</a:t>
            </a:r>
            <a:r>
              <a:rPr lang="en-US" altLang="ko-KR" dirty="0"/>
              <a:t>, </a:t>
            </a:r>
            <a:r>
              <a:rPr lang="ko-KR" altLang="en-US" dirty="0"/>
              <a:t>이 점수를 통해 대화의 점유율을 계산함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점유율이 높다면 더 많은 효과를 보고</a:t>
            </a:r>
            <a:r>
              <a:rPr lang="en-US" altLang="ko-KR" dirty="0"/>
              <a:t> </a:t>
            </a:r>
            <a:r>
              <a:rPr lang="ko-KR" altLang="en-US" dirty="0"/>
              <a:t>낮다면 효과가 감소함</a:t>
            </a:r>
            <a:endParaRPr lang="en-US" altLang="ko-KR" dirty="0"/>
          </a:p>
          <a:p>
            <a:r>
              <a:rPr lang="ko-KR" altLang="en-US" dirty="0"/>
              <a:t>만약 점유율이 일정 이하로 내려가면 쫓겨남 </a:t>
            </a:r>
          </a:p>
        </p:txBody>
      </p:sp>
    </p:spTree>
    <p:extLst>
      <p:ext uri="{BB962C8B-B14F-4D97-AF65-F5344CB8AC3E}">
        <p14:creationId xmlns:p14="http://schemas.microsoft.com/office/powerpoint/2010/main" val="3545832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EE39B3-ABD5-362A-4914-8F2807CA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매력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EBF09D-9FBF-12EA-0EBA-BF646F7CF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다른 </a:t>
            </a:r>
            <a:r>
              <a:rPr lang="en-US" altLang="ko-KR" dirty="0"/>
              <a:t>AI</a:t>
            </a:r>
            <a:r>
              <a:rPr lang="ko-KR" altLang="en-US" dirty="0"/>
              <a:t>와 상호작용 할 때</a:t>
            </a:r>
            <a:r>
              <a:rPr lang="en-US" altLang="ko-KR" dirty="0"/>
              <a:t>, </a:t>
            </a:r>
            <a:r>
              <a:rPr lang="ko-KR" altLang="en-US" dirty="0"/>
              <a:t>매력도를 통해 관계도의 이점을 볼 수 있음</a:t>
            </a:r>
            <a:endParaRPr lang="en-US" altLang="ko-KR" dirty="0"/>
          </a:p>
          <a:p>
            <a:r>
              <a:rPr lang="ko-KR" altLang="en-US" dirty="0"/>
              <a:t>매력적인 캐릭터는 관계형성에 더 많은 보너스를</a:t>
            </a:r>
            <a:r>
              <a:rPr lang="en-US" altLang="ko-KR" dirty="0"/>
              <a:t>, </a:t>
            </a:r>
            <a:r>
              <a:rPr lang="ko-KR" altLang="en-US" dirty="0"/>
              <a:t>반대의 경우는 </a:t>
            </a:r>
            <a:r>
              <a:rPr lang="ko-KR" altLang="en-US" dirty="0" err="1"/>
              <a:t>패널티를</a:t>
            </a:r>
            <a:r>
              <a:rPr lang="ko-KR" altLang="en-US" dirty="0"/>
              <a:t> 받음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56329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4761E-482E-2A30-EA60-0BC4C1215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A5974D-9B88-FFED-4EEB-B8E66FE5F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매력도 계산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99CAD3-DD07-1A83-37D8-28302D5F8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69308" cy="4351338"/>
          </a:xfrm>
        </p:spPr>
        <p:txBody>
          <a:bodyPr/>
          <a:lstStyle/>
          <a:p>
            <a:r>
              <a:rPr lang="ko-KR" altLang="en-US" dirty="0"/>
              <a:t>예쁘고 잘생기면 일반적으로 매력도가 높음</a:t>
            </a:r>
            <a:endParaRPr lang="en-US" altLang="ko-KR" dirty="0"/>
          </a:p>
          <a:p>
            <a:r>
              <a:rPr lang="ko-KR" altLang="en-US" dirty="0"/>
              <a:t>하지만 이상형이 아니면 매력이 반감 되기도 함</a:t>
            </a:r>
            <a:endParaRPr lang="en-US" altLang="ko-KR" dirty="0"/>
          </a:p>
          <a:p>
            <a:r>
              <a:rPr lang="ko-KR" altLang="en-US" dirty="0"/>
              <a:t>일본에서는 이상형을 야구의 스트라이크 </a:t>
            </a:r>
            <a:r>
              <a:rPr lang="ko-KR" altLang="en-US" dirty="0" err="1"/>
              <a:t>존에</a:t>
            </a:r>
            <a:r>
              <a:rPr lang="ko-KR" altLang="en-US" dirty="0"/>
              <a:t> 비유하는 표현이 있음</a:t>
            </a:r>
            <a:endParaRPr lang="en-US" altLang="ko-KR" dirty="0"/>
          </a:p>
          <a:p>
            <a:r>
              <a:rPr lang="ko-KR" altLang="en-US" dirty="0"/>
              <a:t>이에 영감을 받아 다른 </a:t>
            </a:r>
            <a:r>
              <a:rPr lang="en-US" altLang="ko-KR" dirty="0"/>
              <a:t>AI</a:t>
            </a:r>
            <a:r>
              <a:rPr lang="ko-KR" altLang="en-US" dirty="0"/>
              <a:t>의 스트라이크 </a:t>
            </a:r>
            <a:r>
              <a:rPr lang="ko-KR" altLang="en-US" dirty="0" err="1"/>
              <a:t>존에</a:t>
            </a:r>
            <a:r>
              <a:rPr lang="ko-KR" altLang="en-US" dirty="0"/>
              <a:t> 들어갈 확률로 매력도를 결정함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287E98-ABEA-8334-42AA-0A8132838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19863" y="1825625"/>
            <a:ext cx="3719854" cy="377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67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C4B82-646C-A22E-7425-11E51B938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06A84-2185-B2DD-458A-1C4654CA0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매력도 계산</a:t>
            </a:r>
          </a:p>
        </p:txBody>
      </p:sp>
      <p:pic>
        <p:nvPicPr>
          <p:cNvPr id="10" name="그림 개체 틀 9">
            <a:extLst>
              <a:ext uri="{FF2B5EF4-FFF2-40B4-BE49-F238E27FC236}">
                <a16:creationId xmlns:a16="http://schemas.microsoft.com/office/drawing/2014/main" id="{3490A8FF-BACF-DAC7-9B0F-8220D60F2D1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52" r="33894" b="28358"/>
          <a:stretch>
            <a:fillRect/>
          </a:stretch>
        </p:blipFill>
        <p:spPr>
          <a:xfrm>
            <a:off x="6152826" y="754949"/>
            <a:ext cx="4912963" cy="5561971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CBA991C-D633-91B8-A97E-BF8EE020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던져진 공이 상대의 이상형의 스트라이크 </a:t>
            </a:r>
            <a:r>
              <a:rPr lang="ko-KR" altLang="en-US" dirty="0" err="1"/>
              <a:t>존에</a:t>
            </a:r>
            <a:r>
              <a:rPr lang="ko-KR" altLang="en-US" dirty="0"/>
              <a:t> 들어갈 확률로 상대에 대한 매력도를 결정함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모든 </a:t>
            </a:r>
            <a:r>
              <a:rPr lang="en-US" altLang="ko-KR" dirty="0"/>
              <a:t>AI</a:t>
            </a:r>
            <a:r>
              <a:rPr lang="ko-KR" altLang="en-US" dirty="0"/>
              <a:t>는 이상형의 벡터와 외모 벡터를 가지고 있어서 두 벡터가 이루는 각도가 작을 수록 확률이 커짐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외모가 뛰어난 </a:t>
            </a:r>
            <a:r>
              <a:rPr lang="en-US" altLang="ko-KR" dirty="0"/>
              <a:t>AI</a:t>
            </a:r>
            <a:r>
              <a:rPr lang="ko-KR" altLang="en-US" dirty="0"/>
              <a:t>일수록 점의 분포가 원점에 가까워지므로 매력도가 커짐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7994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4B4FE-95FA-A398-0589-2F915F370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친구</a:t>
            </a:r>
            <a:r>
              <a:rPr lang="en-US" altLang="ko-KR" dirty="0"/>
              <a:t>, </a:t>
            </a:r>
            <a:r>
              <a:rPr lang="ko-KR" altLang="en-US" dirty="0"/>
              <a:t>라이벌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6FF442-889F-A50C-512A-88F5B9C58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호감도가 일정 수준에 도달하면 친구 혹은 라이벌 관계가 형성됨</a:t>
            </a:r>
            <a:endParaRPr lang="en-US" altLang="ko-KR" dirty="0"/>
          </a:p>
          <a:p>
            <a:r>
              <a:rPr lang="ko-KR" altLang="en-US" dirty="0"/>
              <a:t>친구는 서로 관계 개선의 보너스를 받음</a:t>
            </a:r>
            <a:endParaRPr lang="en-US" altLang="ko-KR" dirty="0"/>
          </a:p>
          <a:p>
            <a:r>
              <a:rPr lang="ko-KR" altLang="en-US" dirty="0"/>
              <a:t>라이벌은 서로 평판을 </a:t>
            </a:r>
            <a:r>
              <a:rPr lang="ko-KR" altLang="en-US" dirty="0" err="1"/>
              <a:t>내리려함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9205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386F6A-A099-09A9-D605-C2DABAA3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검증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CA6A2-78B8-F444-9130-94B50B45E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다양한 시스템을 검증하기 위해 로그를 분석하는 파이썬 코드를 준비함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87587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D1E033-F28D-F27D-F2B7-5D71A8FF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A16056-EE15-D893-FDA1-7CF8BE831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04222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2A2841-ACA8-2CCD-1268-463B855D6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배운점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D62350-8590-933A-8B89-A3D0C2278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감에 의존한 개발은 오히려 효율이 나쁘다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53276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840</Words>
  <Application>Microsoft Office PowerPoint</Application>
  <PresentationFormat>와이드스크린</PresentationFormat>
  <Paragraphs>148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맑은 고딕</vt:lpstr>
      <vt:lpstr>Arial</vt:lpstr>
      <vt:lpstr>Cambria Math</vt:lpstr>
      <vt:lpstr>Office 테마</vt:lpstr>
      <vt:lpstr>Utility AI의 구현과 검증</vt:lpstr>
      <vt:lpstr>Utility AI란?</vt:lpstr>
      <vt:lpstr>시스템 설계의 고려 사항</vt:lpstr>
      <vt:lpstr>시스템의 목표</vt:lpstr>
      <vt:lpstr>AI의 욕구 설계의 기반 이론</vt:lpstr>
      <vt:lpstr>AI의 욕구 설계의 기반 이론</vt:lpstr>
      <vt:lpstr>시스템상 AI의 욕구에 대해</vt:lpstr>
      <vt:lpstr>각 타입의 특성</vt:lpstr>
      <vt:lpstr>각 타입의 특성</vt:lpstr>
      <vt:lpstr>각 타입의 특성</vt:lpstr>
      <vt:lpstr>각 타입의 특성</vt:lpstr>
      <vt:lpstr>행동 평가 설계</vt:lpstr>
      <vt:lpstr>점수의 계산</vt:lpstr>
      <vt:lpstr>개인차의 고려</vt:lpstr>
      <vt:lpstr>개인차의 고려</vt:lpstr>
      <vt:lpstr>AI의 상호작용</vt:lpstr>
      <vt:lpstr>AI의 상호작용</vt:lpstr>
      <vt:lpstr>AI의 상호작용</vt:lpstr>
      <vt:lpstr>매력 시스템</vt:lpstr>
      <vt:lpstr>매력도 계산</vt:lpstr>
      <vt:lpstr>매력도 계산</vt:lpstr>
      <vt:lpstr>친구, 라이벌 시스템</vt:lpstr>
      <vt:lpstr>검증 방법</vt:lpstr>
      <vt:lpstr>시연</vt:lpstr>
      <vt:lpstr>배운점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pilki min</dc:creator>
  <cp:lastModifiedBy>pilki min</cp:lastModifiedBy>
  <cp:revision>4</cp:revision>
  <dcterms:created xsi:type="dcterms:W3CDTF">2026-03-03T15:39:26Z</dcterms:created>
  <dcterms:modified xsi:type="dcterms:W3CDTF">2026-03-04T09:25:26Z</dcterms:modified>
</cp:coreProperties>
</file>