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4" r:id="rId6"/>
    <p:sldId id="265" r:id="rId7"/>
    <p:sldId id="260" r:id="rId8"/>
    <p:sldId id="261" r:id="rId9"/>
    <p:sldId id="262" r:id="rId10"/>
    <p:sldId id="263" r:id="rId11"/>
    <p:sldId id="266" r:id="rId12"/>
    <p:sldId id="267" r:id="rId13"/>
    <p:sldId id="268" r:id="rId14"/>
    <p:sldId id="269" r:id="rId15"/>
    <p:sldId id="270" r:id="rId16"/>
    <p:sldId id="271" r:id="rId17"/>
    <p:sldId id="273" r:id="rId18"/>
    <p:sldId id="274" r:id="rId19"/>
    <p:sldId id="272" r:id="rId20"/>
    <p:sldId id="275" r:id="rId21"/>
    <p:sldId id="276" r:id="rId2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4660"/>
  </p:normalViewPr>
  <p:slideViewPr>
    <p:cSldViewPr snapToGrid="0">
      <p:cViewPr varScale="1">
        <p:scale>
          <a:sx n="85" d="100"/>
          <a:sy n="85" d="100"/>
        </p:scale>
        <p:origin x="1036" y="2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9DC211-AF25-DA6E-30D2-2544EF50E2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F8D8367-907F-7B76-99B1-85E488C7F1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846D0FC-57C5-692B-2877-4ADFCAF5C2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A76E61-7B8C-4F42-A9E9-943560D43BFA}" type="datetimeFigureOut">
              <a:rPr lang="ko-KR" altLang="en-US" smtClean="0"/>
              <a:t>2026-03-03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B07355C-C862-95A7-0F77-05B01DD5E3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52E155D-90A8-DC72-E0BB-E5FC93AD0A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4A94D6-F9D8-48AF-AFDF-F8F9A9BD9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647591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579ABA-7507-0275-E99B-ED64F82822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FEE25AD-FB54-6981-9C44-C22AF0B42F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D7DFDA3-E2B6-D95F-47C3-A995CC95A3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A76E61-7B8C-4F42-A9E9-943560D43BFA}" type="datetimeFigureOut">
              <a:rPr lang="ko-KR" altLang="en-US" smtClean="0"/>
              <a:t>2026-03-03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763E65C-C002-F4C7-FD2B-224320DE28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A773E5A-56F6-4F2D-FB0D-9EFC41E688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4A94D6-F9D8-48AF-AFDF-F8F9A9BD9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03649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C61F71-E81B-253A-7CDF-8DC6F29291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E8FD20A-FB16-DAA8-0E85-37CF821261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B690386-BED5-9993-2C75-B05EC6B2E1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A76E61-7B8C-4F42-A9E9-943560D43BFA}" type="datetimeFigureOut">
              <a:rPr lang="ko-KR" altLang="en-US" smtClean="0"/>
              <a:t>2026-03-03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99E7B12-521E-562D-21FE-5F520BBEF3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3ECE239-B362-EE86-928D-69953A385A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4A94D6-F9D8-48AF-AFDF-F8F9A9BD9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2367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DBDBE6C-943D-5A33-7D1B-3A4F1EDBE1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24C9EDD-0569-D96C-6A7B-362DA87C633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A9A1EE2-D9B6-E338-8C5A-BDD949C207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D391CDF-0515-A254-0A61-CCC33FB87C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A76E61-7B8C-4F42-A9E9-943560D43BFA}" type="datetimeFigureOut">
              <a:rPr lang="ko-KR" altLang="en-US" smtClean="0"/>
              <a:t>2026-03-03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0C41ED4-A0ED-9BFA-D69B-D04677F9DF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7D54D69-4713-2B03-357C-9340D35AE7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4A94D6-F9D8-48AF-AFDF-F8F9A9BD9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934391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8BFB29-441C-F3DD-78F3-84D27D507A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43C87E1-8618-84BF-74F7-38081CF6FA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B8DF833-4B5A-F1F0-A398-7DE06C30F0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5A3A3EE-0BBB-49C6-BDD0-D8CDC9E33A2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865A323-8841-7042-EA6C-78B09FB4033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1DCA3875-A50F-7E29-030A-BBF454DEA5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A76E61-7B8C-4F42-A9E9-943560D43BFA}" type="datetimeFigureOut">
              <a:rPr lang="ko-KR" altLang="en-US" smtClean="0"/>
              <a:t>2026-03-03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3C79FB9B-532D-3E0A-D766-FC140D7B62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15CE2592-55FC-E886-F1D7-B793165E24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4A94D6-F9D8-48AF-AFDF-F8F9A9BD9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38171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CF39EC-A434-DC20-E882-1317FEF890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56778A78-325B-5407-2615-54790C247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A76E61-7B8C-4F42-A9E9-943560D43BFA}" type="datetimeFigureOut">
              <a:rPr lang="ko-KR" altLang="en-US" smtClean="0"/>
              <a:t>2026-03-03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74D9999-FE58-59AA-1F80-D9DC455289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F9A26ED-8575-839A-445D-99529FE57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4A94D6-F9D8-48AF-AFDF-F8F9A9BD9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46135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3ABA248-B3E8-26D0-68F2-2C2C9E30D1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A76E61-7B8C-4F42-A9E9-943560D43BFA}" type="datetimeFigureOut">
              <a:rPr lang="ko-KR" altLang="en-US" smtClean="0"/>
              <a:t>2026-03-03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A89FF7D6-05DA-610C-79EB-098BADB826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62455C8-8931-8C25-33F1-A91180C885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4A94D6-F9D8-48AF-AFDF-F8F9A9BD9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286026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F125425-C923-56B4-DF01-FEE260482B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E0B3896-70C4-C906-5FB1-F67AED711C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2D9E66C-BA21-0212-7533-EAE668C7AA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22F526B-DF08-1297-7D33-18A936A6E2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A76E61-7B8C-4F42-A9E9-943560D43BFA}" type="datetimeFigureOut">
              <a:rPr lang="ko-KR" altLang="en-US" smtClean="0"/>
              <a:t>2026-03-03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9A1C876-BA02-4934-A4BE-1250CB415C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98A3E8E-2ED8-014F-80EA-260715953A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4A94D6-F9D8-48AF-AFDF-F8F9A9BD9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95996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F9413B8-9DEF-C0E6-BA6B-B24C258601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7232183-EF74-0234-C61D-76849ED8FFE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3F7A8EC-4BE1-54CB-96BF-1BC4304FA4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FF6CB31-64A8-7FD9-7D5F-9E95FDA8F9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A76E61-7B8C-4F42-A9E9-943560D43BFA}" type="datetimeFigureOut">
              <a:rPr lang="ko-KR" altLang="en-US" smtClean="0"/>
              <a:t>2026-03-03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113CC19-ED69-FFD8-2849-0F1D71A9D7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2BA4A07-7AF9-63DC-C54C-7DD42CCBC8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4A94D6-F9D8-48AF-AFDF-F8F9A9BD9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30197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79C306-85C9-5BA4-E81E-E2FA3141AC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7E98C04-250C-8B1A-D169-08F3C6BBFA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42D8774-E063-6ADF-04EC-04FB5782E3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A76E61-7B8C-4F42-A9E9-943560D43BFA}" type="datetimeFigureOut">
              <a:rPr lang="ko-KR" altLang="en-US" smtClean="0"/>
              <a:t>2026-03-03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C2D901C-43EE-0E1A-3BF0-BAB11CEA65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90B7EB8-A4C1-BBB6-1F26-4EF10C679F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4A94D6-F9D8-48AF-AFDF-F8F9A9BD9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36503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71D99B9D-CFF2-6F31-FF07-6F900B2735E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77D3029-FA33-8AAD-75BC-731DBFD097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C052656-6B4C-64F5-4ED9-78D4439483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A76E61-7B8C-4F42-A9E9-943560D43BFA}" type="datetimeFigureOut">
              <a:rPr lang="ko-KR" altLang="en-US" smtClean="0"/>
              <a:t>2026-03-03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AECA1F8-1B98-8E56-7482-A28468DBB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14A8AB9-2F55-7159-6134-85ACB49E15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4A94D6-F9D8-48AF-AFDF-F8F9A9BD9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697236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428EFF1B-6E66-D7F7-BC2A-1A577CD77D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87831E9-F0E3-76D8-F52C-E6E8E561E1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4B16847-117D-59C6-9042-67029BE716F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A76E61-7B8C-4F42-A9E9-943560D43BFA}" type="datetimeFigureOut">
              <a:rPr lang="ko-KR" altLang="en-US" smtClean="0"/>
              <a:t>2026-03-03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0F0F64B-4FFC-BC79-FD92-F8914338B9D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CCBDED2-BDAE-4F43-FA3E-8F016B3D59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4A94D6-F9D8-48AF-AFDF-F8F9A9BD9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53961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librewiki.net/wiki/%EC%8B%AC%EC%A6%88_4" TargetMode="Externa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itwiki.kr/w/%EB%8F%99%EA%B8%B0%EB%B6%80%EC%97%AC_%EC%9D%B4%EB%A1%A0" TargetMode="External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nymetsandknicks.tistory.com/entry/%EC%99%84%EB%B2%BD%ED%95%98%EA%B2%8C-%EA%B3%B5%EC%A0%95%ED%95%9C-%EC%8A%A4%ED%8A%B8%EB%9D%BC%EC%9D%B4%ED%81%AC-%EC%A1%B4%EC%9D%B4%EB%9E%80-%EC%97%86%EC%9D%84%EC%A7%80%EB%8F%84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356761-9C35-30AF-A954-D1067C26CE7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Utility AI</a:t>
            </a:r>
            <a:r>
              <a:rPr lang="ko-KR" altLang="en-US" dirty="0"/>
              <a:t>의 구현과 검증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9006414-6E15-6CA4-F810-C15835AB56B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 err="1"/>
              <a:t>민필기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69773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8C48D68-A6BA-27D3-C88E-2C06B10FC3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Utility AI</a:t>
            </a:r>
            <a:r>
              <a:rPr lang="ko-KR" altLang="en-US" dirty="0"/>
              <a:t>란</a:t>
            </a:r>
            <a:r>
              <a:rPr lang="en-US" altLang="ko-KR" dirty="0"/>
              <a:t>?</a:t>
            </a:r>
            <a:endParaRPr lang="ko-KR" altLang="en-US" dirty="0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665D4722-19C6-5AAB-FAFF-80FBF9F298E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7465102" y="1397039"/>
            <a:ext cx="2980896" cy="4206806"/>
          </a:xfr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6630B73-938B-AEA6-1B18-EFBCA2196860}"/>
              </a:ext>
            </a:extLst>
          </p:cNvPr>
          <p:cNvSpPr txBox="1"/>
          <p:nvPr/>
        </p:nvSpPr>
        <p:spPr>
          <a:xfrm>
            <a:off x="914048" y="2623279"/>
            <a:ext cx="486430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게임 </a:t>
            </a:r>
            <a:r>
              <a:rPr lang="en-US" altLang="ko-KR" dirty="0"/>
              <a:t>NPC</a:t>
            </a:r>
            <a:r>
              <a:rPr lang="ko-KR" altLang="en-US" dirty="0"/>
              <a:t>를 위한 인공지능의 한 종류로</a:t>
            </a:r>
            <a:endParaRPr lang="en-US" altLang="ko-KR" dirty="0"/>
          </a:p>
          <a:p>
            <a:r>
              <a:rPr lang="ko-KR" altLang="en-US" dirty="0"/>
              <a:t>유용성</a:t>
            </a:r>
            <a:r>
              <a:rPr lang="en-US" altLang="ko-KR" dirty="0"/>
              <a:t>(Utility) </a:t>
            </a:r>
            <a:r>
              <a:rPr lang="ko-KR" altLang="en-US" dirty="0"/>
              <a:t>를 평가하여 가장 최적의 행동을 하도록 돕는 </a:t>
            </a:r>
            <a:r>
              <a:rPr lang="en-US" altLang="ko-KR" dirty="0"/>
              <a:t>AI</a:t>
            </a:r>
            <a:r>
              <a:rPr lang="ko-KR" altLang="en-US" dirty="0"/>
              <a:t>이다</a:t>
            </a:r>
            <a:r>
              <a:rPr lang="en-US" altLang="ko-KR" dirty="0"/>
              <a:t>. </a:t>
            </a:r>
          </a:p>
          <a:p>
            <a:endParaRPr lang="en-US" altLang="ko-KR" dirty="0"/>
          </a:p>
          <a:p>
            <a:r>
              <a:rPr lang="en-US" altLang="ko-KR" dirty="0"/>
              <a:t>Utility AI</a:t>
            </a:r>
            <a:r>
              <a:rPr lang="ko-KR" altLang="en-US" dirty="0"/>
              <a:t>를 사용한 대표적인 게임으로 </a:t>
            </a:r>
            <a:r>
              <a:rPr lang="ko-KR" altLang="en-US" dirty="0" err="1"/>
              <a:t>심즈가</a:t>
            </a:r>
            <a:r>
              <a:rPr lang="ko-KR" altLang="en-US" dirty="0"/>
              <a:t> 있다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486089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3690201-FAF3-53D2-1D51-D2C00B9CD8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시스템 설계의 고려 사항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6F55435-E8ED-5486-FB7F-0B32E4575C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행동을 어떻게 평가할 것인가</a:t>
            </a:r>
            <a:r>
              <a:rPr lang="en-US" altLang="ko-KR" dirty="0"/>
              <a:t>?</a:t>
            </a:r>
          </a:p>
          <a:p>
            <a:r>
              <a:rPr lang="ko-KR" altLang="en-US" dirty="0"/>
              <a:t>상호작용을 어떻게 구현할 것인가</a:t>
            </a:r>
            <a:r>
              <a:rPr lang="en-US" altLang="ko-KR" dirty="0"/>
              <a:t>?</a:t>
            </a:r>
          </a:p>
          <a:p>
            <a:r>
              <a:rPr lang="ko-KR" altLang="en-US" dirty="0"/>
              <a:t>어떻게 검증할 것인가</a:t>
            </a:r>
            <a:r>
              <a:rPr lang="en-US" altLang="ko-KR" dirty="0"/>
              <a:t>?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498511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6B9A922-8837-47E3-F4E0-6623308831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행동 평가 설계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2222103-659B-3CE1-F791-C356DE1E9B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모든 액션에는 결과값이 존재</a:t>
            </a:r>
            <a:endParaRPr lang="en-US" altLang="ko-KR" dirty="0"/>
          </a:p>
          <a:p>
            <a:r>
              <a:rPr lang="ko-KR" altLang="en-US" dirty="0"/>
              <a:t>스킬의 경험치</a:t>
            </a:r>
            <a:r>
              <a:rPr lang="en-US" altLang="ko-KR" dirty="0"/>
              <a:t>, </a:t>
            </a:r>
            <a:r>
              <a:rPr lang="ko-KR" altLang="en-US" dirty="0"/>
              <a:t>호감도</a:t>
            </a:r>
            <a:r>
              <a:rPr lang="en-US" altLang="ko-KR" dirty="0"/>
              <a:t> </a:t>
            </a:r>
            <a:r>
              <a:rPr lang="ko-KR" altLang="en-US" dirty="0"/>
              <a:t>혹은 배고픔과 같은 상태 변화</a:t>
            </a:r>
            <a:endParaRPr lang="en-US" altLang="ko-KR" dirty="0"/>
          </a:p>
          <a:p>
            <a:r>
              <a:rPr lang="ko-KR" altLang="en-US" dirty="0"/>
              <a:t>모든 능력치를 하나의 함수로 평가하는 것은 어렵다</a:t>
            </a:r>
            <a:endParaRPr lang="en-US" altLang="ko-KR" dirty="0"/>
          </a:p>
          <a:p>
            <a:r>
              <a:rPr lang="ko-KR" altLang="en-US" dirty="0"/>
              <a:t>따라서 모든 능력치의 변화를 </a:t>
            </a:r>
            <a:r>
              <a:rPr lang="en-US" altLang="ko-KR" dirty="0"/>
              <a:t>AI</a:t>
            </a:r>
            <a:r>
              <a:rPr lang="ko-KR" altLang="en-US" dirty="0"/>
              <a:t>가 필요로 하는 욕구로 환산하여 계산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3439178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008231-B027-20C0-E898-CDE278F83B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시스템상 </a:t>
            </a:r>
            <a:r>
              <a:rPr lang="en-US" altLang="ko-KR" dirty="0"/>
              <a:t>AI</a:t>
            </a:r>
            <a:r>
              <a:rPr lang="ko-KR" altLang="en-US" dirty="0"/>
              <a:t>의 욕구에 대해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3837E98-89B6-2F40-C74B-49BDB20E8C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6147216" cy="4351338"/>
          </a:xfrm>
        </p:spPr>
        <p:txBody>
          <a:bodyPr>
            <a:normAutofit lnSpcReduction="10000"/>
          </a:bodyPr>
          <a:lstStyle/>
          <a:p>
            <a:r>
              <a:rPr lang="ko-KR" altLang="en-US" dirty="0"/>
              <a:t>인간의 욕구에 대한 이론은 많지만 대표적으로 </a:t>
            </a:r>
            <a:r>
              <a:rPr lang="ko-KR" altLang="en-US" dirty="0" err="1"/>
              <a:t>메슬로우의</a:t>
            </a:r>
            <a:r>
              <a:rPr lang="ko-KR" altLang="en-US" dirty="0"/>
              <a:t> 이론이 있음</a:t>
            </a:r>
            <a:endParaRPr lang="en-US" altLang="ko-KR" dirty="0"/>
          </a:p>
          <a:p>
            <a:r>
              <a:rPr lang="ko-KR" altLang="en-US" dirty="0"/>
              <a:t>생존에 직결되는 하위 욕구가 충족되어야 상위 욕구를 찾게 된다는 이론임</a:t>
            </a:r>
            <a:endParaRPr lang="en-US" altLang="ko-KR" dirty="0"/>
          </a:p>
          <a:p>
            <a:r>
              <a:rPr lang="ko-KR" altLang="en-US" dirty="0"/>
              <a:t>하지만 실제 현실에서는 가난하지만 꿈을 쫓는 예술가처럼 하위 욕구가 충족 되지 않아도 상위 욕구를 추구하는 사람이 존재함</a:t>
            </a:r>
            <a:endParaRPr lang="en-US" altLang="ko-KR" dirty="0"/>
          </a:p>
          <a:p>
            <a:r>
              <a:rPr lang="ko-KR" altLang="en-US" dirty="0"/>
              <a:t>따라서 이 시스템에서는 이 이론을 적용하지 않음</a:t>
            </a:r>
            <a:endParaRPr lang="en-US" altLang="ko-KR" dirty="0"/>
          </a:p>
          <a:p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0C8891B-F9B4-B749-8F6C-66C109667D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7609383" y="1825625"/>
            <a:ext cx="3918054" cy="3780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58593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D8278E-5AED-248B-CB00-4870EFB9A5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B44DAE8-DD66-7D42-CA08-6AC5B521D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시스템상 </a:t>
            </a:r>
            <a:r>
              <a:rPr lang="en-US" altLang="ko-KR" dirty="0"/>
              <a:t>AI</a:t>
            </a:r>
            <a:r>
              <a:rPr lang="ko-KR" altLang="en-US" dirty="0"/>
              <a:t>의 욕구에 대해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1BC3DF8-70FD-03B7-2518-6E7EF2429E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6147216" cy="4351338"/>
          </a:xfrm>
        </p:spPr>
        <p:txBody>
          <a:bodyPr>
            <a:normAutofit fontScale="92500"/>
          </a:bodyPr>
          <a:lstStyle/>
          <a:p>
            <a:r>
              <a:rPr lang="en-US" altLang="ko-KR" dirty="0"/>
              <a:t>ERG </a:t>
            </a:r>
            <a:r>
              <a:rPr lang="ko-KR" altLang="en-US" dirty="0"/>
              <a:t>이론</a:t>
            </a:r>
            <a:endParaRPr lang="en-US" altLang="ko-KR" dirty="0"/>
          </a:p>
          <a:p>
            <a:r>
              <a:rPr lang="ko-KR" altLang="en-US" dirty="0"/>
              <a:t>인간에겐 존재 욕구</a:t>
            </a:r>
            <a:r>
              <a:rPr lang="en-US" altLang="ko-KR" dirty="0"/>
              <a:t>, </a:t>
            </a:r>
            <a:r>
              <a:rPr lang="ko-KR" altLang="en-US" dirty="0"/>
              <a:t>관계 욕구</a:t>
            </a:r>
            <a:r>
              <a:rPr lang="en-US" altLang="ko-KR" dirty="0"/>
              <a:t>, </a:t>
            </a:r>
            <a:r>
              <a:rPr lang="ko-KR" altLang="en-US" dirty="0"/>
              <a:t>성장 욕구가 존재함</a:t>
            </a:r>
            <a:endParaRPr lang="en-US" altLang="ko-KR" dirty="0"/>
          </a:p>
          <a:p>
            <a:r>
              <a:rPr lang="ko-KR" altLang="en-US" dirty="0"/>
              <a:t>욕구에는 어떤 순서가 있는 것이 아니고</a:t>
            </a:r>
            <a:r>
              <a:rPr lang="en-US" altLang="ko-KR" dirty="0"/>
              <a:t>, </a:t>
            </a:r>
            <a:r>
              <a:rPr lang="ko-KR" altLang="en-US" dirty="0"/>
              <a:t>동시에 여러 욕구가 발생 할 수 있음</a:t>
            </a:r>
            <a:endParaRPr lang="en-US" altLang="ko-KR" dirty="0"/>
          </a:p>
          <a:p>
            <a:r>
              <a:rPr lang="ko-KR" altLang="en-US" dirty="0"/>
              <a:t>각 욕구가 충족되지 않으면 상위 욕구 혹은 하위 욕구에 영향을 미침</a:t>
            </a:r>
            <a:endParaRPr lang="en-US" altLang="ko-KR" dirty="0"/>
          </a:p>
          <a:p>
            <a:r>
              <a:rPr lang="ko-KR" altLang="en-US" dirty="0"/>
              <a:t>욕구 구조의 개인차를 인정함</a:t>
            </a:r>
            <a:endParaRPr lang="en-US" altLang="ko-KR" dirty="0"/>
          </a:p>
          <a:p>
            <a:r>
              <a:rPr lang="ko-KR" altLang="en-US" dirty="0"/>
              <a:t>이 시스템에는 이 이론을 일부 도입함</a:t>
            </a:r>
            <a:r>
              <a:rPr lang="en-US" altLang="ko-KR" dirty="0"/>
              <a:t> </a:t>
            </a:r>
            <a:endParaRPr lang="ko-KR" altLang="en-US" dirty="0"/>
          </a:p>
        </p:txBody>
      </p:sp>
      <p:pic>
        <p:nvPicPr>
          <p:cNvPr id="1028" name="Picture 4" descr="undefined">
            <a:extLst>
              <a:ext uri="{FF2B5EF4-FFF2-40B4-BE49-F238E27FC236}">
                <a16:creationId xmlns:a16="http://schemas.microsoft.com/office/drawing/2014/main" id="{903EC61C-690D-DBA6-29E7-CCFB1F1071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81380" y="2290762"/>
            <a:ext cx="4043362" cy="2276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456526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A48F8E-9908-0780-0A62-46B8CEA0D1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시스템상 </a:t>
            </a:r>
            <a:r>
              <a:rPr lang="en-US" altLang="ko-KR" dirty="0"/>
              <a:t>AI</a:t>
            </a:r>
            <a:r>
              <a:rPr lang="ko-KR" altLang="en-US" dirty="0"/>
              <a:t>의 욕구에 대해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BCA486B-ECC4-B069-B660-87C05B35EA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880100"/>
          </a:xfrm>
        </p:spPr>
        <p:txBody>
          <a:bodyPr>
            <a:normAutofit fontScale="55000" lnSpcReduction="20000"/>
          </a:bodyPr>
          <a:lstStyle/>
          <a:p>
            <a:r>
              <a:rPr lang="ko-KR" altLang="en-US" dirty="0"/>
              <a:t>이 시스템에는 </a:t>
            </a:r>
            <a:r>
              <a:rPr lang="en-US" altLang="ko-KR" dirty="0"/>
              <a:t>AI</a:t>
            </a:r>
            <a:r>
              <a:rPr lang="ko-KR" altLang="en-US" dirty="0"/>
              <a:t>가 충족해야 </a:t>
            </a:r>
            <a:r>
              <a:rPr lang="en-US" altLang="ko-KR" dirty="0"/>
              <a:t>8</a:t>
            </a:r>
            <a:r>
              <a:rPr lang="ko-KR" altLang="en-US" dirty="0"/>
              <a:t>개의 욕구가 있음</a:t>
            </a:r>
            <a:endParaRPr lang="en-US" altLang="ko-KR" dirty="0"/>
          </a:p>
          <a:p>
            <a:r>
              <a:rPr lang="ko-KR" altLang="en-US" dirty="0"/>
              <a:t>각 욕구는 </a:t>
            </a:r>
            <a:r>
              <a:rPr lang="en-US" altLang="ko-KR" dirty="0"/>
              <a:t>3</a:t>
            </a:r>
            <a:r>
              <a:rPr lang="ko-KR" altLang="en-US" dirty="0"/>
              <a:t>종류의 타입이 존재함</a:t>
            </a:r>
            <a:endParaRPr lang="en-US" altLang="ko-KR" dirty="0"/>
          </a:p>
          <a:p>
            <a:r>
              <a:rPr lang="ko-KR" altLang="en-US" dirty="0"/>
              <a:t>타입은 생존을 위한 </a:t>
            </a:r>
            <a:r>
              <a:rPr lang="en-US" altLang="ko-KR" dirty="0"/>
              <a:t>E, </a:t>
            </a:r>
            <a:r>
              <a:rPr lang="ko-KR" altLang="en-US" dirty="0"/>
              <a:t>사회적 욕구 혹은 즐거움의 </a:t>
            </a:r>
            <a:r>
              <a:rPr lang="en-US" altLang="ko-KR" dirty="0"/>
              <a:t>R, </a:t>
            </a:r>
            <a:r>
              <a:rPr lang="ko-KR" altLang="en-US" dirty="0"/>
              <a:t>인격적 성장을 위한 </a:t>
            </a:r>
            <a:r>
              <a:rPr lang="en-US" altLang="ko-KR" dirty="0"/>
              <a:t>G</a:t>
            </a: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94298994-6570-5BF3-0651-8412F244C3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5167373"/>
              </p:ext>
            </p:extLst>
          </p:nvPr>
        </p:nvGraphicFramePr>
        <p:xfrm>
          <a:off x="2032000" y="2840664"/>
          <a:ext cx="8128000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7436">
                  <a:extLst>
                    <a:ext uri="{9D8B030D-6E8A-4147-A177-3AD203B41FA5}">
                      <a16:colId xmlns:a16="http://schemas.microsoft.com/office/drawing/2014/main" val="2778200895"/>
                    </a:ext>
                  </a:extLst>
                </a:gridCol>
                <a:gridCol w="2728210">
                  <a:extLst>
                    <a:ext uri="{9D8B030D-6E8A-4147-A177-3AD203B41FA5}">
                      <a16:colId xmlns:a16="http://schemas.microsoft.com/office/drawing/2014/main" val="1431916538"/>
                    </a:ext>
                  </a:extLst>
                </a:gridCol>
                <a:gridCol w="2762354">
                  <a:extLst>
                    <a:ext uri="{9D8B030D-6E8A-4147-A177-3AD203B41FA5}">
                      <a16:colId xmlns:a16="http://schemas.microsoft.com/office/drawing/2014/main" val="19420078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욕구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설명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타입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466953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Hungry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허기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E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2626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Fatigue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피곤함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E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779369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Toilet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용변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E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06352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Hygeine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위생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E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280245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ko-KR" dirty="0"/>
                        <a:t>Fun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ko-KR" altLang="en-US" dirty="0" err="1"/>
                        <a:t>즐거음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ko-KR" dirty="0"/>
                        <a:t>R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695892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Loneliness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외로움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R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16701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Rloneliness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연애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R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36198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Motivation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동기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G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415818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534668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F09339-8BB7-15D9-058A-7D863C1314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각 타입의 특성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8A54953-1321-EFFC-A66F-4E45D73124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E </a:t>
            </a:r>
            <a:r>
              <a:rPr lang="ko-KR" altLang="en-US" dirty="0"/>
              <a:t>타입의 욕구는 생명유지와 건강에 직결되므로 만일 기준치 이하가 된다면 급격히 필요해짐</a:t>
            </a:r>
            <a:endParaRPr lang="en-US" altLang="ko-KR" dirty="0"/>
          </a:p>
          <a:p>
            <a:r>
              <a:rPr lang="ko-KR" altLang="en-US" dirty="0"/>
              <a:t>하지만 욕구가 어느 정도 충족 된다면 더 이상은 생각이 안 남</a:t>
            </a:r>
            <a:br>
              <a:rPr lang="en-US" altLang="ko-KR" dirty="0"/>
            </a:br>
            <a:r>
              <a:rPr lang="en-US" altLang="ko-KR" dirty="0"/>
              <a:t>(</a:t>
            </a:r>
            <a:r>
              <a:rPr lang="ko-KR" altLang="en-US" dirty="0"/>
              <a:t>배부른 상태에선 더 이상 먹고 싶지 않음</a:t>
            </a:r>
            <a:r>
              <a:rPr lang="en-US" altLang="ko-KR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7908861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5A631E-443A-225C-4435-E00F8B397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8F1878-9AD7-8D84-8E40-48D637D439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각 타입의 특성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B52CE52-63FF-5E32-791D-71488727F9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R </a:t>
            </a:r>
            <a:r>
              <a:rPr lang="ko-KR" altLang="en-US" dirty="0"/>
              <a:t>타입의 욕구는 인간관계 혹은 즐거움을 의미함</a:t>
            </a:r>
            <a:endParaRPr lang="en-US" altLang="ko-KR" dirty="0"/>
          </a:p>
          <a:p>
            <a:r>
              <a:rPr lang="ko-KR" altLang="en-US" dirty="0"/>
              <a:t>부족하다고 생명의 위협을 느끼지는 않지만</a:t>
            </a:r>
            <a:r>
              <a:rPr lang="en-US" altLang="ko-KR" dirty="0"/>
              <a:t>, </a:t>
            </a:r>
            <a:r>
              <a:rPr lang="ko-KR" altLang="en-US" dirty="0"/>
              <a:t>개인의 행복에 관여하므로 필요함</a:t>
            </a:r>
            <a:endParaRPr lang="en-US" altLang="ko-KR" dirty="0"/>
          </a:p>
          <a:p>
            <a:r>
              <a:rPr lang="ko-KR" altLang="en-US" dirty="0"/>
              <a:t>따라서 꾸준한 필요가 있음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0870542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34D6B1-4D05-AD19-7CCB-DD21ACD8C0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5006433-78A8-FBF6-3D1B-8413D94DC1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각 타입의 특성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5CCA8B5-B930-2FF9-F62B-A3055E7186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G </a:t>
            </a:r>
            <a:r>
              <a:rPr lang="ko-KR" altLang="en-US" dirty="0"/>
              <a:t>타입은 개인의 성장</a:t>
            </a:r>
            <a:r>
              <a:rPr lang="en-US" altLang="ko-KR" dirty="0"/>
              <a:t>, </a:t>
            </a:r>
            <a:r>
              <a:rPr lang="ko-KR" altLang="en-US" dirty="0"/>
              <a:t>자아실현에 관련됨</a:t>
            </a:r>
            <a:endParaRPr lang="en-US" altLang="ko-KR" dirty="0"/>
          </a:p>
          <a:p>
            <a:r>
              <a:rPr lang="ko-KR" altLang="en-US" dirty="0"/>
              <a:t> 이 시스템에서는 스킬의 연습 혹은 과목의 공부에 관여함</a:t>
            </a:r>
            <a:endParaRPr lang="en-US" altLang="ko-KR" dirty="0"/>
          </a:p>
          <a:p>
            <a:r>
              <a:rPr lang="ko-KR" altLang="en-US" dirty="0"/>
              <a:t>숙제가 있어도 친구와 놀거나 만화를 보는 학생들처럼 항상 작용 하지 않고 오히려 다른 욕구가 충족되어야 비로소 영향을 발휘함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8156636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5D8B18-CDF6-6479-6CD3-E6062657E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점수의 계산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63A792F-0BE0-EB8A-0503-0D9FDEAA3F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895090"/>
          </a:xfrm>
        </p:spPr>
        <p:txBody>
          <a:bodyPr>
            <a:normAutofit fontScale="85000" lnSpcReduction="10000"/>
          </a:bodyPr>
          <a:lstStyle/>
          <a:p>
            <a:r>
              <a:rPr lang="ko-KR" altLang="en-US" dirty="0"/>
              <a:t>각 욕구의 부족한 양을 계산해 이를 기반으로 각 행동의 결과값을 평가함</a:t>
            </a:r>
            <a:endParaRPr lang="en-US" altLang="ko-KR" dirty="0"/>
          </a:p>
          <a:p>
            <a:r>
              <a:rPr lang="ko-KR" altLang="en-US" dirty="0"/>
              <a:t>이 점수가 가장 높은 행동을 가장 필요한 행동으로 보고 시행함</a:t>
            </a:r>
            <a:endParaRPr lang="en-US" altLang="ko-KR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D47CC96-22F0-488C-24DE-CD2B64AD1BFA}"/>
                  </a:ext>
                </a:extLst>
              </p:cNvPr>
              <p:cNvSpPr txBox="1"/>
              <p:nvPr/>
            </p:nvSpPr>
            <p:spPr>
              <a:xfrm>
                <a:off x="1197339" y="3580018"/>
                <a:ext cx="9797321" cy="5572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altLang="ko-KR" sz="3200" b="0" dirty="0"/>
                  <a:t>s</a:t>
                </a:r>
                <a14:m>
                  <m:oMath xmlns:m="http://schemas.openxmlformats.org/officeDocument/2006/math">
                    <m:r>
                      <a:rPr lang="en-US" altLang="ko-KR" sz="3200" b="0" i="1" smtClean="0">
                        <a:latin typeface="Cambria Math" panose="02040503050406030204" pitchFamily="18" charset="0"/>
                      </a:rPr>
                      <m:t>𝑐𝑜𝑟𝑒</m:t>
                    </m:r>
                    <m:r>
                      <a:rPr lang="en-US" altLang="ko-KR" sz="32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altLang="ko-KR" sz="32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7"/>
                          </m:rPr>
                          <a:rPr lang="en-US" altLang="ko-KR" sz="3200" b="0" i="1" smtClean="0"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altLang="ko-KR" sz="3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m:rPr>
                            <m:sty m:val="p"/>
                          </m:rPr>
                          <a:rPr lang="en-US" altLang="ko-KR" sz="3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types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altLang="ko-KR" sz="3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3200" b="0" i="1" smtClean="0">
                                <a:latin typeface="Cambria Math" panose="02040503050406030204" pitchFamily="18" charset="0"/>
                              </a:rPr>
                              <m:t>w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32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ko-KR" sz="3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nary>
                          <m:naryPr>
                            <m:chr m:val="∑"/>
                            <m:supHide m:val="on"/>
                            <m:ctrlPr>
                              <a:rPr lang="en-US" altLang="ko-KR" sz="3200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sty m:val="p"/>
                                <m:brk m:alnAt="7"/>
                              </m:rPr>
                              <a:rPr lang="en-US" altLang="ko-KR" sz="3200" b="0" i="1" smtClean="0">
                                <a:latin typeface="Cambria Math" panose="02040503050406030204" pitchFamily="18" charset="0"/>
                              </a:rPr>
                              <m:t>n</m:t>
                            </m:r>
                            <m:r>
                              <a:rPr lang="en-US" altLang="ko-KR" sz="3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∈</m:t>
                            </m:r>
                            <m:r>
                              <m:rPr>
                                <m:sty m:val="p"/>
                              </m:rPr>
                              <a:rPr lang="en-US" altLang="ko-KR" sz="3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needs</m:t>
                            </m:r>
                            <m:r>
                              <a:rPr lang="en-US" altLang="ko-KR" sz="3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m:rPr>
                                <m:sty m:val="p"/>
                              </m:rPr>
                              <a:rPr lang="en-US" altLang="ko-KR" sz="3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n</m:t>
                            </m:r>
                            <m:r>
                              <a:rPr lang="en-US" altLang="ko-KR" sz="3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∈</m:t>
                            </m:r>
                            <m:r>
                              <m:rPr>
                                <m:sty m:val="p"/>
                              </m:rPr>
                              <a:rPr lang="en-US" altLang="ko-KR" sz="3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types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en-US" altLang="ko-KR" sz="3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ko-KR" sz="3200" b="0" i="1" smtClean="0">
                                    <a:latin typeface="Cambria Math" panose="02040503050406030204" pitchFamily="18" charset="0"/>
                                  </a:rPr>
                                  <m:t>f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ko-KR" sz="3200" b="0" i="1" smtClean="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altLang="ko-KR" sz="3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altLang="ko-K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ko-KR" sz="3200" b="0" i="1" smtClean="0">
                                        <a:latin typeface="Cambria Math" panose="02040503050406030204" pitchFamily="18" charset="0"/>
                                      </a:rPr>
                                      <m:t>max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altLang="ko-KR" sz="3200" b="0" i="1" smtClean="0">
                                        <a:latin typeface="Cambria Math" panose="02040503050406030204" pitchFamily="18" charset="0"/>
                                      </a:rPr>
                                      <m:t>n</m:t>
                                    </m:r>
                                  </m:sub>
                                </m:sSub>
                                <m:r>
                                  <a:rPr lang="en-US" altLang="ko-KR" sz="3200" b="0" i="1" smtClean="0">
                                    <a:latin typeface="Cambria Math" panose="02040503050406030204" pitchFamily="18" charset="0"/>
                                  </a:rPr>
                                  <m:t>-</m:t>
                                </m:r>
                                <m:sSub>
                                  <m:sSubPr>
                                    <m:ctrlPr>
                                      <a:rPr lang="en-US" altLang="ko-K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ko-KR" sz="3200" b="0" i="1" smtClean="0">
                                        <a:latin typeface="Cambria Math" panose="02040503050406030204" pitchFamily="18" charset="0"/>
                                      </a:rPr>
                                      <m:t>cur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altLang="ko-KR" sz="3200" b="0" i="1" smtClean="0">
                                        <a:latin typeface="Cambria Math" panose="02040503050406030204" pitchFamily="18" charset="0"/>
                                      </a:rPr>
                                      <m:t>n</m:t>
                                    </m:r>
                                  </m:sub>
                                </m:sSub>
                              </m:e>
                            </m:d>
                          </m:e>
                        </m:nary>
                      </m:e>
                    </m:nary>
                    <m:r>
                      <a:rPr lang="en-US" altLang="ko-KR" sz="3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altLang="ko-KR" sz="3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r>
                      <m:rPr>
                        <m:sty m:val="p"/>
                      </m:rPr>
                      <a:rPr lang="en-US" altLang="ko-KR" sz="3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n</m:t>
                    </m:r>
                  </m:oMath>
                </a14:m>
                <a:endParaRPr lang="ko-KR" altLang="en-US" sz="32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D47CC96-22F0-488C-24DE-CD2B64AD1B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7339" y="3580018"/>
                <a:ext cx="9797321" cy="557268"/>
              </a:xfrm>
              <a:prstGeom prst="rect">
                <a:avLst/>
              </a:prstGeom>
              <a:blipFill>
                <a:blip r:embed="rId2"/>
                <a:stretch>
                  <a:fillRect l="-2488" t="-23913" b="-2934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50152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717449-410F-BB31-2848-BA2ECEADE4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개인차를 고려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9CDF90D-7C07-8F26-B000-0F3159D728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865109"/>
          </a:xfrm>
        </p:spPr>
        <p:txBody>
          <a:bodyPr/>
          <a:lstStyle/>
          <a:p>
            <a:r>
              <a:rPr lang="ko-KR" altLang="en-US" dirty="0"/>
              <a:t>같은 행동이지만</a:t>
            </a:r>
            <a:r>
              <a:rPr lang="en-US" altLang="ko-KR" dirty="0"/>
              <a:t> </a:t>
            </a:r>
            <a:r>
              <a:rPr lang="ko-KR" altLang="en-US" dirty="0"/>
              <a:t>더 피로를 느끼는 사람이 있듯이 개인차를 고려해야 함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49908CD-69F3-B1CE-1C2D-D279940D37AF}"/>
              </a:ext>
            </a:extLst>
          </p:cNvPr>
          <p:cNvSpPr/>
          <p:nvPr/>
        </p:nvSpPr>
        <p:spPr>
          <a:xfrm>
            <a:off x="1828801" y="3485213"/>
            <a:ext cx="2315980" cy="161893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행동의 결과값 계산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464D1465-8732-BF07-D928-72602B3C1440}"/>
              </a:ext>
            </a:extLst>
          </p:cNvPr>
          <p:cNvSpPr/>
          <p:nvPr/>
        </p:nvSpPr>
        <p:spPr>
          <a:xfrm>
            <a:off x="5054184" y="3485213"/>
            <a:ext cx="2315980" cy="161893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개인차를 고려한 결과값 계산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90E76B7-B0F4-A87B-90A3-2CCB235C85DB}"/>
              </a:ext>
            </a:extLst>
          </p:cNvPr>
          <p:cNvSpPr/>
          <p:nvPr/>
        </p:nvSpPr>
        <p:spPr>
          <a:xfrm>
            <a:off x="8441961" y="3485213"/>
            <a:ext cx="2315980" cy="161893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점수로 환산</a:t>
            </a:r>
          </a:p>
        </p:txBody>
      </p:sp>
      <p:cxnSp>
        <p:nvCxnSpPr>
          <p:cNvPr id="8" name="연결선: 꺾임 7">
            <a:extLst>
              <a:ext uri="{FF2B5EF4-FFF2-40B4-BE49-F238E27FC236}">
                <a16:creationId xmlns:a16="http://schemas.microsoft.com/office/drawing/2014/main" id="{774F11A8-B59B-6ECA-FB42-697B0BB1437E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4144780" y="4294682"/>
            <a:ext cx="900000" cy="0"/>
          </a:xfrm>
          <a:prstGeom prst="bentConnector3">
            <a:avLst/>
          </a:prstGeom>
          <a:ln w="19050" cap="flat" cmpd="sng" algn="ctr">
            <a:solidFill>
              <a:schemeClr val="accent5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연결선: 꺾임 10">
            <a:extLst>
              <a:ext uri="{FF2B5EF4-FFF2-40B4-BE49-F238E27FC236}">
                <a16:creationId xmlns:a16="http://schemas.microsoft.com/office/drawing/2014/main" id="{41DD38C9-9B99-74BD-58CF-F8255D454519}"/>
              </a:ext>
            </a:extLst>
          </p:cNvPr>
          <p:cNvCxnSpPr>
            <a:stCxn id="5" idx="3"/>
            <a:endCxn id="6" idx="1"/>
          </p:cNvCxnSpPr>
          <p:nvPr/>
        </p:nvCxnSpPr>
        <p:spPr>
          <a:xfrm>
            <a:off x="7370164" y="4294682"/>
            <a:ext cx="1071797" cy="0"/>
          </a:xfrm>
          <a:prstGeom prst="bentConnector3">
            <a:avLst/>
          </a:prstGeom>
          <a:ln w="19050" cap="flat" cmpd="sng" algn="ctr">
            <a:solidFill>
              <a:schemeClr val="accent5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831134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71C4EB8-549C-09BD-20E9-EBA083C111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AI</a:t>
            </a:r>
            <a:r>
              <a:rPr lang="ko-KR" altLang="en-US" dirty="0"/>
              <a:t>의 상호작용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67A3128-B1A7-9433-F7A8-603A3CBAB8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011857"/>
          </a:xfrm>
        </p:spPr>
        <p:txBody>
          <a:bodyPr>
            <a:normAutofit/>
          </a:bodyPr>
          <a:lstStyle/>
          <a:p>
            <a:r>
              <a:rPr lang="ko-KR" altLang="en-US" dirty="0"/>
              <a:t>이 시스템에서는 </a:t>
            </a:r>
            <a:r>
              <a:rPr lang="en-US" altLang="ko-KR" dirty="0"/>
              <a:t>AI</a:t>
            </a:r>
            <a:r>
              <a:rPr lang="ko-KR" altLang="en-US" dirty="0"/>
              <a:t> 간의 대화를 통해 상호작용을 수행함</a:t>
            </a:r>
            <a:endParaRPr lang="en-US" altLang="ko-KR" dirty="0"/>
          </a:p>
          <a:p>
            <a:r>
              <a:rPr lang="ko-KR" altLang="en-US" dirty="0"/>
              <a:t>각 </a:t>
            </a:r>
            <a:r>
              <a:rPr lang="en-US" altLang="ko-KR" dirty="0"/>
              <a:t>AI</a:t>
            </a:r>
            <a:r>
              <a:rPr lang="ko-KR" altLang="en-US" dirty="0"/>
              <a:t>는 다른 </a:t>
            </a:r>
            <a:r>
              <a:rPr lang="en-US" altLang="ko-KR" dirty="0"/>
              <a:t>AI</a:t>
            </a:r>
            <a:r>
              <a:rPr lang="ko-KR" altLang="en-US" dirty="0"/>
              <a:t>에 상호작용을 요청할 수 있음</a:t>
            </a:r>
            <a:endParaRPr lang="en-US" altLang="ko-KR" dirty="0"/>
          </a:p>
          <a:p>
            <a:r>
              <a:rPr lang="ko-KR" altLang="en-US" dirty="0"/>
              <a:t>만약 </a:t>
            </a:r>
            <a:r>
              <a:rPr lang="en-US" altLang="ko-KR" dirty="0"/>
              <a:t>AI</a:t>
            </a:r>
            <a:r>
              <a:rPr lang="ko-KR" altLang="en-US" dirty="0"/>
              <a:t>의 판단으로 점수가 부족하면 거절 가능</a:t>
            </a:r>
            <a:endParaRPr lang="en-US" altLang="ko-KR" dirty="0"/>
          </a:p>
          <a:p>
            <a:r>
              <a:rPr lang="ko-KR" altLang="en-US" dirty="0"/>
              <a:t>대화의 주제는 </a:t>
            </a:r>
            <a:r>
              <a:rPr lang="en-US" altLang="ko-KR" dirty="0"/>
              <a:t>4</a:t>
            </a:r>
            <a:r>
              <a:rPr lang="ko-KR" altLang="en-US" dirty="0"/>
              <a:t>종류가 있음</a:t>
            </a:r>
          </a:p>
        </p:txBody>
      </p:sp>
    </p:spTree>
    <p:extLst>
      <p:ext uri="{BB962C8B-B14F-4D97-AF65-F5344CB8AC3E}">
        <p14:creationId xmlns:p14="http://schemas.microsoft.com/office/powerpoint/2010/main" val="16142576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60562F-915B-0947-07C0-DFEF342173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4DD43B-34B7-B5F0-3DF3-68E467F937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AI</a:t>
            </a:r>
            <a:r>
              <a:rPr lang="ko-KR" altLang="en-US" dirty="0"/>
              <a:t>의 상호작용</a:t>
            </a: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D9247795-1683-B52F-110E-D90F70116F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0285751"/>
              </p:ext>
            </p:extLst>
          </p:nvPr>
        </p:nvGraphicFramePr>
        <p:xfrm>
          <a:off x="1546485" y="1690688"/>
          <a:ext cx="9099030" cy="449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49515">
                  <a:extLst>
                    <a:ext uri="{9D8B030D-6E8A-4147-A177-3AD203B41FA5}">
                      <a16:colId xmlns:a16="http://schemas.microsoft.com/office/drawing/2014/main" val="2515423280"/>
                    </a:ext>
                  </a:extLst>
                </a:gridCol>
                <a:gridCol w="4549515">
                  <a:extLst>
                    <a:ext uri="{9D8B030D-6E8A-4147-A177-3AD203B41FA5}">
                      <a16:colId xmlns:a16="http://schemas.microsoft.com/office/drawing/2014/main" val="36466343"/>
                    </a:ext>
                  </a:extLst>
                </a:gridCol>
              </a:tblGrid>
              <a:tr h="596547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2000" dirty="0"/>
                        <a:t>이름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2000" dirty="0"/>
                        <a:t>설명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4182356"/>
                  </a:ext>
                </a:extLst>
              </a:tr>
              <a:tr h="596547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000" dirty="0"/>
                        <a:t>General</a:t>
                      </a:r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2000" dirty="0"/>
                        <a:t>참여자 사이의 관계 개선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52872312"/>
                  </a:ext>
                </a:extLst>
              </a:tr>
              <a:tr h="596547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000" dirty="0"/>
                        <a:t>Romance</a:t>
                      </a:r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2000" dirty="0"/>
                        <a:t>참여자 사이의 연애 호감도 개선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6913810"/>
                  </a:ext>
                </a:extLst>
              </a:tr>
              <a:tr h="105543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000" dirty="0"/>
                        <a:t>Teach</a:t>
                      </a:r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2000" dirty="0"/>
                        <a:t>화자가 알고 있는 기술을 공유하여 기술</a:t>
                      </a:r>
                      <a:r>
                        <a:rPr lang="en-US" altLang="ko-KR" sz="2000" dirty="0"/>
                        <a:t>, </a:t>
                      </a:r>
                      <a:r>
                        <a:rPr lang="ko-KR" altLang="en-US" sz="2000" dirty="0"/>
                        <a:t>과목 경험치 상승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90301367"/>
                  </a:ext>
                </a:extLst>
              </a:tr>
              <a:tr h="105543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000" dirty="0"/>
                        <a:t>Compliant</a:t>
                      </a:r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2000" dirty="0"/>
                        <a:t>칭찬을 통해 대상에 대한 참여자의 관계 개선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3566507"/>
                  </a:ext>
                </a:extLst>
              </a:tr>
              <a:tr h="596547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000" dirty="0"/>
                        <a:t>Put down</a:t>
                      </a:r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2000" dirty="0"/>
                        <a:t>대상과 참여자의 관계 훼손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935814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251350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53E24B-34AB-E705-6C1A-DC0DE2F2D5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AI</a:t>
            </a:r>
            <a:r>
              <a:rPr lang="ko-KR" altLang="en-US" dirty="0"/>
              <a:t>의 상호작용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0AD45A8-7AE7-2DED-B9DF-39B28A1097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모든 참여자는 제한 시간동안 최적의 주제를 선택하고 시간이 다되면 그 효과를 받음</a:t>
            </a:r>
            <a:endParaRPr lang="en-US" altLang="ko-KR" dirty="0"/>
          </a:p>
          <a:p>
            <a:r>
              <a:rPr lang="ko-KR" altLang="en-US" dirty="0"/>
              <a:t>다른 참여자가 받은 효과를 점수로 환산하여</a:t>
            </a:r>
            <a:r>
              <a:rPr lang="en-US" altLang="ko-KR" dirty="0"/>
              <a:t>, </a:t>
            </a:r>
            <a:r>
              <a:rPr lang="ko-KR" altLang="en-US" dirty="0"/>
              <a:t>이 점수를 통해 대화의 점유율을 계산함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점유율이 높다면 더 많은 효과를 보고</a:t>
            </a:r>
            <a:r>
              <a:rPr lang="en-US" altLang="ko-KR" dirty="0"/>
              <a:t> </a:t>
            </a:r>
            <a:r>
              <a:rPr lang="ko-KR" altLang="en-US" dirty="0"/>
              <a:t>낮다면 효과가 감소함</a:t>
            </a:r>
            <a:endParaRPr lang="en-US" altLang="ko-KR" dirty="0"/>
          </a:p>
          <a:p>
            <a:r>
              <a:rPr lang="ko-KR" altLang="en-US" dirty="0"/>
              <a:t>만약 점유율이 일정 이하로 내려가면 쫓겨남 </a:t>
            </a:r>
          </a:p>
        </p:txBody>
      </p:sp>
    </p:spTree>
    <p:extLst>
      <p:ext uri="{BB962C8B-B14F-4D97-AF65-F5344CB8AC3E}">
        <p14:creationId xmlns:p14="http://schemas.microsoft.com/office/powerpoint/2010/main" val="35458322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EE39B3-ABD5-362A-4914-8F2807CA32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매력 시스템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CEBF09D-9FBF-12EA-0EBA-BF646F7CF4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다른 </a:t>
            </a:r>
            <a:r>
              <a:rPr lang="en-US" altLang="ko-KR" dirty="0"/>
              <a:t>AI</a:t>
            </a:r>
            <a:r>
              <a:rPr lang="ko-KR" altLang="en-US" dirty="0"/>
              <a:t>와 상호작용 할 때</a:t>
            </a:r>
            <a:r>
              <a:rPr lang="en-US" altLang="ko-KR" dirty="0"/>
              <a:t>, </a:t>
            </a:r>
            <a:r>
              <a:rPr lang="ko-KR" altLang="en-US" dirty="0"/>
              <a:t>매력도를 통해 관계도의 이점을 볼 수 있음</a:t>
            </a:r>
            <a:endParaRPr lang="en-US" altLang="ko-KR" dirty="0"/>
          </a:p>
          <a:p>
            <a:r>
              <a:rPr lang="ko-KR" altLang="en-US" dirty="0"/>
              <a:t>매력적인 캐릭터는 관계형성에 더 많은 보너스를</a:t>
            </a:r>
            <a:r>
              <a:rPr lang="en-US" altLang="ko-KR" dirty="0"/>
              <a:t>, </a:t>
            </a:r>
            <a:r>
              <a:rPr lang="ko-KR" altLang="en-US" dirty="0"/>
              <a:t>반대의 경우는 </a:t>
            </a:r>
            <a:r>
              <a:rPr lang="ko-KR" altLang="en-US" dirty="0" err="1"/>
              <a:t>패널티를</a:t>
            </a:r>
            <a:r>
              <a:rPr lang="ko-KR" altLang="en-US" dirty="0"/>
              <a:t> 받음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45632940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44761E-482E-2A30-EA60-0BC4C1215F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A5974D-9B88-FFED-4EEB-B8E66FE5F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매력도 계산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F99CAD3-DD07-1A83-37D8-28302D5F88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769308" cy="4351338"/>
          </a:xfrm>
        </p:spPr>
        <p:txBody>
          <a:bodyPr/>
          <a:lstStyle/>
          <a:p>
            <a:r>
              <a:rPr lang="ko-KR" altLang="en-US" dirty="0"/>
              <a:t>예쁘고 잘생기면 일반적으로 매력도가 높음</a:t>
            </a:r>
            <a:endParaRPr lang="en-US" altLang="ko-KR" dirty="0"/>
          </a:p>
          <a:p>
            <a:r>
              <a:rPr lang="ko-KR" altLang="en-US" dirty="0"/>
              <a:t>하지만 이상형이 아니면 매력이 반감 되기도 함</a:t>
            </a:r>
            <a:endParaRPr lang="en-US" altLang="ko-KR" dirty="0"/>
          </a:p>
          <a:p>
            <a:r>
              <a:rPr lang="ko-KR" altLang="en-US" dirty="0"/>
              <a:t>일본에서는 이상형을 야구의 스트라이크 </a:t>
            </a:r>
            <a:r>
              <a:rPr lang="ko-KR" altLang="en-US" dirty="0" err="1"/>
              <a:t>존에</a:t>
            </a:r>
            <a:r>
              <a:rPr lang="ko-KR" altLang="en-US" dirty="0"/>
              <a:t> 비유하는 표현이 있음</a:t>
            </a:r>
            <a:endParaRPr lang="en-US" altLang="ko-KR" dirty="0"/>
          </a:p>
          <a:p>
            <a:r>
              <a:rPr lang="ko-KR" altLang="en-US" dirty="0"/>
              <a:t>이에 영감을 받아 다른 </a:t>
            </a:r>
            <a:r>
              <a:rPr lang="en-US" altLang="ko-KR" dirty="0"/>
              <a:t>AI</a:t>
            </a:r>
            <a:r>
              <a:rPr lang="ko-KR" altLang="en-US" dirty="0"/>
              <a:t>의 스트라이크 </a:t>
            </a:r>
            <a:r>
              <a:rPr lang="ko-KR" altLang="en-US" dirty="0" err="1"/>
              <a:t>존에</a:t>
            </a:r>
            <a:r>
              <a:rPr lang="ko-KR" altLang="en-US" dirty="0"/>
              <a:t> 들어갈 확률로 매력도를 결정함</a:t>
            </a:r>
            <a:endParaRPr lang="en-US" altLang="ko-KR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3287E98-ABEA-8334-42AA-0A81328384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7919863" y="1825625"/>
            <a:ext cx="3719854" cy="37706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656797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AC4B82-646C-A22E-7425-11E51B938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0206A84-2185-B2DD-458A-1C4654CA0E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매력도 계산</a:t>
            </a:r>
          </a:p>
        </p:txBody>
      </p:sp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00DF97F7-7916-D179-3796-7384A5253F6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4854" y="1690688"/>
            <a:ext cx="4168946" cy="435133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4A0DBB7-922C-8F94-1704-264DAB31F0DB}"/>
              </a:ext>
            </a:extLst>
          </p:cNvPr>
          <p:cNvSpPr txBox="1"/>
          <p:nvPr/>
        </p:nvSpPr>
        <p:spPr>
          <a:xfrm>
            <a:off x="1146747" y="3543191"/>
            <a:ext cx="543393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타원을 향해 던져진 공이 타원에 적중할 확률을 계산하여 이 확률을 매력도로 봄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17799431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4F4B4FE-95FA-A398-0589-2F915F370B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친구</a:t>
            </a:r>
            <a:r>
              <a:rPr lang="en-US" altLang="ko-KR" dirty="0"/>
              <a:t>, </a:t>
            </a:r>
            <a:r>
              <a:rPr lang="ko-KR" altLang="en-US" dirty="0"/>
              <a:t>라이벌 시스템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46FF442-889F-A50C-512A-88F5B9C586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호감도가 일정 수준에 도달하면 친구 혹은 라이벌 관계가 형성됨</a:t>
            </a:r>
            <a:endParaRPr lang="en-US" altLang="ko-KR" dirty="0"/>
          </a:p>
          <a:p>
            <a:r>
              <a:rPr lang="ko-KR" altLang="en-US" dirty="0"/>
              <a:t>친구는 서로 관계 개선의 보너스를 받음</a:t>
            </a:r>
            <a:endParaRPr lang="en-US" altLang="ko-KR" dirty="0"/>
          </a:p>
          <a:p>
            <a:r>
              <a:rPr lang="ko-KR" altLang="en-US" dirty="0"/>
              <a:t>라이벌은 서로 평판을 </a:t>
            </a:r>
            <a:r>
              <a:rPr lang="ko-KR" altLang="en-US" dirty="0" err="1"/>
              <a:t>내리려함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4920514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386F6A-A099-09A9-D605-C2DABAA3C8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검증 방법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01CA6A2-78B8-F444-9130-94B50B45E3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다양한 시스템을 검증하기 위해 로그를 분석하는 파이썬 코드를 준비함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98758722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D1E033-F28D-F27D-F2B7-5D71A8FF3D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DA16056-EE15-D893-FDA1-7CF8BE8317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804222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630</Words>
  <Application>Microsoft Office PowerPoint</Application>
  <PresentationFormat>와이드스크린</PresentationFormat>
  <Paragraphs>119</Paragraphs>
  <Slides>21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21</vt:i4>
      </vt:variant>
    </vt:vector>
  </HeadingPairs>
  <TitlesOfParts>
    <vt:vector size="25" baseType="lpstr">
      <vt:lpstr>맑은 고딕</vt:lpstr>
      <vt:lpstr>Arial</vt:lpstr>
      <vt:lpstr>Cambria Math</vt:lpstr>
      <vt:lpstr>Office 테마</vt:lpstr>
      <vt:lpstr>Utility AI의 구현과 검증</vt:lpstr>
      <vt:lpstr>Utility AI란?</vt:lpstr>
      <vt:lpstr>시스템 설계의 고려 사항</vt:lpstr>
      <vt:lpstr>행동 평가 설계</vt:lpstr>
      <vt:lpstr>시스템상 AI의 욕구에 대해</vt:lpstr>
      <vt:lpstr>시스템상 AI의 욕구에 대해</vt:lpstr>
      <vt:lpstr>시스템상 AI의 욕구에 대해</vt:lpstr>
      <vt:lpstr>각 타입의 특성</vt:lpstr>
      <vt:lpstr>각 타입의 특성</vt:lpstr>
      <vt:lpstr>각 타입의 특성</vt:lpstr>
      <vt:lpstr>점수의 계산</vt:lpstr>
      <vt:lpstr>개인차를 고려</vt:lpstr>
      <vt:lpstr>AI의 상호작용</vt:lpstr>
      <vt:lpstr>AI의 상호작용</vt:lpstr>
      <vt:lpstr>AI의 상호작용</vt:lpstr>
      <vt:lpstr>매력 시스템</vt:lpstr>
      <vt:lpstr>매력도 계산</vt:lpstr>
      <vt:lpstr>매력도 계산</vt:lpstr>
      <vt:lpstr>친구, 라이벌 시스템</vt:lpstr>
      <vt:lpstr>검증 방법</vt:lpstr>
      <vt:lpstr>시연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pilki min</dc:creator>
  <cp:lastModifiedBy>pilki min</cp:lastModifiedBy>
  <cp:revision>1</cp:revision>
  <dcterms:created xsi:type="dcterms:W3CDTF">2026-03-03T15:39:26Z</dcterms:created>
  <dcterms:modified xsi:type="dcterms:W3CDTF">2026-03-03T15:39:30Z</dcterms:modified>
</cp:coreProperties>
</file>